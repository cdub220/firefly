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building catches fire, nobody knows where the fire is. ‖ Not the crew outside. Not the people inside. We're building the system that figures it out — and sends the drones.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US, a fire department gets dispatched every twenty-three seconds. One-point-four million fires a year. Nineteen billion dollars in direct damage. ‖ But this is the number nobody quotes: the total cost of fire is one-point-nine percent of GDP.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Navy lost four billion dollars to fifteen warship fires, and two of the ships with it. Commercial buildings: eight percent of US fires, twenty percent of the damage. A data center loses fourteen thousand dollars a minute offline, and fire is the biggest single cause of its insurance losses. ‖ And firefighters. NIST timed real crews in a thirteen-story building. A small crew needed twenty-three extra minutes before water was on the fire, and most of that is climbing, hauling, and finding it. That is the window Firefly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that looks like. July 2020, San Diego. The USS Bonhomme Richard caught fire pierside — crew aboard, help on the pier. It burned for four days. It reached eleven of fourteen decks and fourteen hundred degrees. Three billion dollars to repair, so the Navy scrapped her. ‖ That was not a missing hose. That was a command that could not see inside its own hull.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why it's hard. The fire destroys the sensors that report it. ‖ Smoke blinds a thermal camera, so it reads cold exactly where it's hottest. Comms drop, and the last reading sticks on the panel, still looking live. Heat pins a sensor at its maximum. And when a room flashes over, every sensor inside it dies in the same second. ‖ That is not noise. Noise is small, random, and averages out. This is corruption — readings wrong in coordinated ways — and nobody tells the estimator which ones are lying.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ran the standard tool, a Kalman filter, on that feed. It doesn't get fuzzy. It gets confidently wrong — sixty-five percent of the time, at ninety-seven percent confidence. ‖ Ours, same sensors, same seed: zero. When two fires both fit the evidence, it says so, and names both. ‖ A confident wrong answer sends drones to the wrong floor. And it looks exactly like a right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four pieces. ‖ A brain that knows what it doesn't know. An allocator that treats every drone as a sensor, because where you choose to fight decides what you can see next. A swarm that already lives in the building: tethers, retardant carriers, door closers, scouts. They don't extinguish — they contain, and they buy the crew time. ‖ And a commander's display that's worth something on day one, before anybody buys a drone.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building is a JSON file. Spaces, levels, heat paths. A hull conducts through steel; a tower stacks up the shaft — that's a number in the file, not a rewrite. Ship, high-rise, warehouse, data center. Same brain,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where the sensors are already installed. About two hundred ninety Navy hulls. Then three hundred forty-four thousand DoD buildings. Then a hundred eighteen thousand commercial buildings over a hundred thousand square feet. ‖ We're not selling the drone. We're the decision layer every one of those fleets needs, and none of them has.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pays for it. Government and the military first: the budgets exist, the sensor networks exist, and dual-use is what this track is. Then building owners and data-center operators, who eat the damage and the downtime — a per-structure license on the alarm panel they already own. Then insurers, who price the loss and can push it through premium credits. ‖ Fire departments don't pay. They get the commander's display, and that display is what makes everyone else's purchase worth anything on the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wrong confident answer sends drones to the wrong floor. ‖ We're building the one that says: floor twenty-two or thirty — cover both. Then stop.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7373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  </a:t>
            </a:r>
            <a:r>
              <a:rPr sz="1000" b="0" spc="300">
                <a:solidFill>
                  <a:srgbClr val="6F7B8C"/>
                </a:solidFill>
                <a:latin typeface="Courier New"/>
              </a:rPr>
              <a:t>DEFENSE TRACK  ·  DEAN &amp; CHASE</a:t>
            </a:r>
          </a:p>
        </p:txBody>
      </p:sp>
      <p:sp>
        <p:nvSpPr>
          <p:cNvPr id="3" name="Rectangle 2"/>
          <p:cNvSpPr/>
          <p:nvPr/>
        </p:nvSpPr>
        <p:spPr>
          <a:xfrm>
            <a:off x="548640" y="2194560"/>
            <a:ext cx="146304" cy="9144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57400"/>
            <a:ext cx="7315200" cy="1188720"/>
          </a:xfrm>
          <a:prstGeom prst="rect">
            <a:avLst/>
          </a:prstGeom>
          <a:noFill/>
        </p:spPr>
        <p:txBody>
          <a:bodyPr wrap="square" anchor="t" lIns="0" rIns="0" tIns="0" bIns="0">
            <a:spAutoFit/>
          </a:bodyPr>
          <a:lstStyle/>
          <a:p>
            <a:pPr algn="l"/>
            <a:r>
              <a:rPr sz="7200" b="0">
                <a:solidFill>
                  <a:srgbClr val="E6EAF0"/>
                </a:solidFill>
                <a:latin typeface="Arial Black"/>
              </a:rPr>
              <a:t>FIREFLY</a:t>
            </a:r>
          </a:p>
        </p:txBody>
      </p:sp>
      <p:sp>
        <p:nvSpPr>
          <p:cNvPr id="5" name="TextBox 4"/>
          <p:cNvSpPr txBox="1"/>
          <p:nvPr/>
        </p:nvSpPr>
        <p:spPr>
          <a:xfrm>
            <a:off x="548640" y="3429000"/>
            <a:ext cx="5669280" cy="2286000"/>
          </a:xfrm>
          <a:prstGeom prst="rect">
            <a:avLst/>
          </a:prstGeom>
          <a:noFill/>
        </p:spPr>
        <p:txBody>
          <a:bodyPr wrap="square" anchor="t" lIns="0" rIns="0" tIns="0" bIns="0">
            <a:spAutoFit/>
          </a:bodyPr>
          <a:lstStyle/>
          <a:p>
            <a:pPr algn="l">
              <a:lnSpc>
                <a:spcPct val="110000"/>
              </a:lnSpc>
            </a:pPr>
            <a:r>
              <a:rPr sz="3200" b="0">
                <a:solidFill>
                  <a:srgbClr val="E6EAF0"/>
                </a:solidFill>
                <a:latin typeface="Arial"/>
              </a:rPr>
              <a:t>Nobody knows where the fire is. </a:t>
            </a:r>
            <a:r>
              <a:rPr sz="3200" b="0">
                <a:solidFill>
                  <a:srgbClr val="F05A28"/>
                </a:solidFill>
                <a:latin typeface="Arial"/>
              </a:rPr>
              <a:t>We're building the system that figures it out and sends the drones.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01  </a:t>
            </a:r>
            <a:r>
              <a:rPr sz="1000" b="0" spc="300">
                <a:solidFill>
                  <a:srgbClr val="6F7B8C"/>
                </a:solidFill>
                <a:latin typeface="Courier New"/>
              </a:rPr>
              <a:t>THE PROBLEM</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400" b="0">
                <a:solidFill>
                  <a:srgbClr val="E6EAF0"/>
                </a:solidFill>
                <a:latin typeface="Arial Black"/>
              </a:rPr>
              <a:t>A fire department is dispatched </a:t>
            </a:r>
          </a:p>
          <a:p>
            <a:pPr algn="l">
              <a:lnSpc>
                <a:spcPct val="100000"/>
              </a:lnSpc>
            </a:pPr>
            <a:r>
              <a:rPr sz="4400" b="0">
                <a:solidFill>
                  <a:srgbClr val="F05A28"/>
                </a:solidFill>
                <a:latin typeface="Arial Black"/>
              </a:rPr>
              <a:t>every 23 seconds.</a:t>
            </a:r>
          </a:p>
        </p:txBody>
      </p:sp>
      <p:sp>
        <p:nvSpPr>
          <p:cNvPr id="4" name="Rectangle 3"/>
          <p:cNvSpPr/>
          <p:nvPr/>
        </p:nvSpPr>
        <p:spPr>
          <a:xfrm>
            <a:off x="548640"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343400"/>
            <a:ext cx="2261539" cy="731520"/>
          </a:xfrm>
          <a:prstGeom prst="rect">
            <a:avLst/>
          </a:prstGeom>
          <a:noFill/>
        </p:spPr>
        <p:txBody>
          <a:bodyPr wrap="square" anchor="t" lIns="0" rIns="0" tIns="0" bIns="0">
            <a:spAutoFit/>
          </a:bodyPr>
          <a:lstStyle/>
          <a:p>
            <a:pPr algn="l"/>
            <a:r>
              <a:rPr sz="3600" b="0">
                <a:solidFill>
                  <a:srgbClr val="F05A28"/>
                </a:solidFill>
                <a:latin typeface="Arial Black"/>
              </a:rPr>
              <a:t>1.39M</a:t>
            </a:r>
          </a:p>
        </p:txBody>
      </p:sp>
      <p:sp>
        <p:nvSpPr>
          <p:cNvPr id="6" name="TextBox 5"/>
          <p:cNvSpPr txBox="1"/>
          <p:nvPr/>
        </p:nvSpPr>
        <p:spPr>
          <a:xfrm>
            <a:off x="822960"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US FIRES A YEAR</a:t>
            </a:r>
          </a:p>
        </p:txBody>
      </p:sp>
      <p:sp>
        <p:nvSpPr>
          <p:cNvPr id="7" name="Rectangle 6"/>
          <p:cNvSpPr/>
          <p:nvPr/>
        </p:nvSpPr>
        <p:spPr>
          <a:xfrm>
            <a:off x="3340531"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4851" y="4343400"/>
            <a:ext cx="2261539" cy="731520"/>
          </a:xfrm>
          <a:prstGeom prst="rect">
            <a:avLst/>
          </a:prstGeom>
          <a:noFill/>
        </p:spPr>
        <p:txBody>
          <a:bodyPr wrap="square" anchor="t" lIns="0" rIns="0" tIns="0" bIns="0">
            <a:spAutoFit/>
          </a:bodyPr>
          <a:lstStyle/>
          <a:p>
            <a:pPr algn="l"/>
            <a:r>
              <a:rPr sz="3600" b="0">
                <a:solidFill>
                  <a:srgbClr val="F05A28"/>
                </a:solidFill>
                <a:latin typeface="Arial Black"/>
              </a:rPr>
              <a:t>$19.1B</a:t>
            </a:r>
          </a:p>
        </p:txBody>
      </p:sp>
      <p:sp>
        <p:nvSpPr>
          <p:cNvPr id="9" name="TextBox 8"/>
          <p:cNvSpPr txBox="1"/>
          <p:nvPr/>
        </p:nvSpPr>
        <p:spPr>
          <a:xfrm>
            <a:off x="3614851"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DIRECT DAMAGE</a:t>
            </a:r>
          </a:p>
        </p:txBody>
      </p:sp>
      <p:sp>
        <p:nvSpPr>
          <p:cNvPr id="10" name="Rectangle 9"/>
          <p:cNvSpPr/>
          <p:nvPr/>
        </p:nvSpPr>
        <p:spPr>
          <a:xfrm>
            <a:off x="6132423"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6743" y="4343400"/>
            <a:ext cx="2261539" cy="731520"/>
          </a:xfrm>
          <a:prstGeom prst="rect">
            <a:avLst/>
          </a:prstGeom>
          <a:noFill/>
        </p:spPr>
        <p:txBody>
          <a:bodyPr wrap="square" anchor="t" lIns="0" rIns="0" tIns="0" bIns="0">
            <a:spAutoFit/>
          </a:bodyPr>
          <a:lstStyle/>
          <a:p>
            <a:pPr algn="l"/>
            <a:r>
              <a:rPr sz="3600" b="0">
                <a:solidFill>
                  <a:srgbClr val="E6EAF0"/>
                </a:solidFill>
                <a:latin typeface="Arial Black"/>
              </a:rPr>
              <a:t>3,920</a:t>
            </a:r>
          </a:p>
        </p:txBody>
      </p:sp>
      <p:sp>
        <p:nvSpPr>
          <p:cNvPr id="12" name="TextBox 11"/>
          <p:cNvSpPr txBox="1"/>
          <p:nvPr/>
        </p:nvSpPr>
        <p:spPr>
          <a:xfrm>
            <a:off x="6406743"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DEATHS A YEAR</a:t>
            </a:r>
          </a:p>
        </p:txBody>
      </p:sp>
      <p:sp>
        <p:nvSpPr>
          <p:cNvPr id="13" name="Rectangle 12"/>
          <p:cNvSpPr/>
          <p:nvPr/>
        </p:nvSpPr>
        <p:spPr>
          <a:xfrm>
            <a:off x="8924315"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635" y="4343400"/>
            <a:ext cx="2261539" cy="731520"/>
          </a:xfrm>
          <a:prstGeom prst="rect">
            <a:avLst/>
          </a:prstGeom>
          <a:noFill/>
        </p:spPr>
        <p:txBody>
          <a:bodyPr wrap="square" anchor="t" lIns="0" rIns="0" tIns="0" bIns="0">
            <a:spAutoFit/>
          </a:bodyPr>
          <a:lstStyle/>
          <a:p>
            <a:pPr algn="l"/>
            <a:r>
              <a:rPr sz="3600" b="0">
                <a:solidFill>
                  <a:srgbClr val="E6EAF0"/>
                </a:solidFill>
                <a:latin typeface="Arial Black"/>
              </a:rPr>
              <a:t>1.9%</a:t>
            </a:r>
          </a:p>
        </p:txBody>
      </p:sp>
      <p:sp>
        <p:nvSpPr>
          <p:cNvPr id="15" name="TextBox 14"/>
          <p:cNvSpPr txBox="1"/>
          <p:nvPr/>
        </p:nvSpPr>
        <p:spPr>
          <a:xfrm>
            <a:off x="9198635"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OF US GDP — THE TOTAL COST OF FIRE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02  </a:t>
            </a:r>
            <a:r>
              <a:rPr sz="1000" b="0" spc="300">
                <a:solidFill>
                  <a:srgbClr val="6F7B8C"/>
                </a:solidFill>
                <a:latin typeface="Courier New"/>
              </a:rPr>
              <a:t>WHO PAYS</a:t>
            </a:r>
          </a:p>
        </p:txBody>
      </p:sp>
      <p:sp>
        <p:nvSpPr>
          <p:cNvPr id="3" name="TextBox 2"/>
          <p:cNvSpPr txBox="1"/>
          <p:nvPr/>
        </p:nvSpPr>
        <p:spPr>
          <a:xfrm>
            <a:off x="548640" y="91440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Three bills, one missing capability.</a:t>
            </a:r>
          </a:p>
        </p:txBody>
      </p:sp>
      <p:sp>
        <p:nvSpPr>
          <p:cNvPr id="4" name="Rectangle 3"/>
          <p:cNvSpPr/>
          <p:nvPr/>
        </p:nvSpPr>
        <p:spPr>
          <a:xfrm>
            <a:off x="548640"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US NAVY</a:t>
            </a:r>
          </a:p>
        </p:txBody>
      </p:sp>
      <p:sp>
        <p:nvSpPr>
          <p:cNvPr id="6" name="TextBox 5"/>
          <p:cNvSpPr txBox="1"/>
          <p:nvPr/>
        </p:nvSpPr>
        <p:spPr>
          <a:xfrm>
            <a:off x="548640"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$4B</a:t>
            </a:r>
          </a:p>
        </p:txBody>
      </p:sp>
      <p:sp>
        <p:nvSpPr>
          <p:cNvPr id="7" name="TextBox 6"/>
          <p:cNvSpPr txBox="1"/>
          <p:nvPr/>
        </p:nvSpPr>
        <p:spPr>
          <a:xfrm>
            <a:off x="548640"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15 major warship fires, 2008–2020. Two ships lost.</a:t>
            </a:r>
          </a:p>
        </p:txBody>
      </p:sp>
      <p:sp>
        <p:nvSpPr>
          <p:cNvPr id="8" name="Rectangle 7"/>
          <p:cNvSpPr/>
          <p:nvPr/>
        </p:nvSpPr>
        <p:spPr>
          <a:xfrm>
            <a:off x="3402253"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2253"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BUILDING OWNERS</a:t>
            </a:r>
          </a:p>
        </p:txBody>
      </p:sp>
      <p:sp>
        <p:nvSpPr>
          <p:cNvPr id="10" name="TextBox 9"/>
          <p:cNvSpPr txBox="1"/>
          <p:nvPr/>
        </p:nvSpPr>
        <p:spPr>
          <a:xfrm>
            <a:off x="3402253"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$3.6B/yr</a:t>
            </a:r>
          </a:p>
        </p:txBody>
      </p:sp>
      <p:sp>
        <p:nvSpPr>
          <p:cNvPr id="11" name="TextBox 10"/>
          <p:cNvSpPr txBox="1"/>
          <p:nvPr/>
        </p:nvSpPr>
        <p:spPr>
          <a:xfrm>
            <a:off x="3402253"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8% of US fires. 20% of all the damage.</a:t>
            </a:r>
          </a:p>
        </p:txBody>
      </p:sp>
      <p:sp>
        <p:nvSpPr>
          <p:cNvPr id="12" name="Rectangle 11"/>
          <p:cNvSpPr/>
          <p:nvPr/>
        </p:nvSpPr>
        <p:spPr>
          <a:xfrm>
            <a:off x="6255867"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DATA CENTERS</a:t>
            </a:r>
          </a:p>
        </p:txBody>
      </p:sp>
      <p:sp>
        <p:nvSpPr>
          <p:cNvPr id="14" name="TextBox 13"/>
          <p:cNvSpPr txBox="1"/>
          <p:nvPr/>
        </p:nvSpPr>
        <p:spPr>
          <a:xfrm>
            <a:off x="6255867"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$14k/min</a:t>
            </a:r>
          </a:p>
        </p:txBody>
      </p:sp>
      <p:sp>
        <p:nvSpPr>
          <p:cNvPr id="15" name="TextBox 14"/>
          <p:cNvSpPr txBox="1"/>
          <p:nvPr/>
        </p:nvSpPr>
        <p:spPr>
          <a:xfrm>
            <a:off x="6255867"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Every minute offline. Fire is the biggest single cause of data-center insurance losses.</a:t>
            </a:r>
          </a:p>
        </p:txBody>
      </p:sp>
      <p:sp>
        <p:nvSpPr>
          <p:cNvPr id="16" name="Rectangle 15"/>
          <p:cNvSpPr/>
          <p:nvPr/>
        </p:nvSpPr>
        <p:spPr>
          <a:xfrm>
            <a:off x="9109481" y="2743200"/>
            <a:ext cx="2533573" cy="20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9481"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FIREFIGHTERS</a:t>
            </a:r>
          </a:p>
        </p:txBody>
      </p:sp>
      <p:sp>
        <p:nvSpPr>
          <p:cNvPr id="18" name="TextBox 17"/>
          <p:cNvSpPr txBox="1"/>
          <p:nvPr/>
        </p:nvSpPr>
        <p:spPr>
          <a:xfrm>
            <a:off x="9109481" y="3200400"/>
            <a:ext cx="2533573" cy="640080"/>
          </a:xfrm>
          <a:prstGeom prst="rect">
            <a:avLst/>
          </a:prstGeom>
          <a:noFill/>
        </p:spPr>
        <p:txBody>
          <a:bodyPr wrap="square" anchor="t" lIns="0" rIns="0" tIns="0" bIns="0">
            <a:spAutoFit/>
          </a:bodyPr>
          <a:lstStyle/>
          <a:p>
            <a:pPr algn="l"/>
            <a:r>
              <a:rPr sz="3000" b="0">
                <a:solidFill>
                  <a:srgbClr val="6AA9E0"/>
                </a:solidFill>
                <a:latin typeface="Arial Black"/>
              </a:rPr>
              <a:t>23 min</a:t>
            </a:r>
          </a:p>
        </p:txBody>
      </p:sp>
      <p:sp>
        <p:nvSpPr>
          <p:cNvPr id="19" name="TextBox 18"/>
          <p:cNvSpPr txBox="1"/>
          <p:nvPr/>
        </p:nvSpPr>
        <p:spPr>
          <a:xfrm>
            <a:off x="9109481"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Extra minutes a small crew spends climbing, hauling, and finding the fire before water is on it. The gap Firefly closes. 62 died on duty in 2024.</a:t>
            </a:r>
          </a:p>
        </p:txBody>
      </p:sp>
      <p:sp>
        <p:nvSpPr>
          <p:cNvPr id="20" name="TextBox 19"/>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NFPA 2024 Fire Loss · GAO-23-105481 · NIST high-rise field experiments · EMA Research · Allianz Commercial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03  </a:t>
            </a:r>
            <a:r>
              <a:rPr sz="1000" b="0" spc="300">
                <a:solidFill>
                  <a:srgbClr val="6F7B8C"/>
                </a:solidFill>
                <a:latin typeface="Courier New"/>
              </a:rPr>
              <a:t>USS BONHOMME RICHARD · 2020</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It burned for four days. In port.</a:t>
            </a:r>
          </a:p>
        </p:txBody>
      </p:sp>
      <p:sp>
        <p:nvSpPr>
          <p:cNvPr id="4" name="Rectangle 3"/>
          <p:cNvSpPr/>
          <p:nvPr/>
        </p:nvSpPr>
        <p:spPr>
          <a:xfrm>
            <a:off x="548640"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11/14</a:t>
            </a:r>
          </a:p>
        </p:txBody>
      </p:sp>
      <p:sp>
        <p:nvSpPr>
          <p:cNvPr id="6" name="TextBox 5"/>
          <p:cNvSpPr txBox="1"/>
          <p:nvPr/>
        </p:nvSpPr>
        <p:spPr>
          <a:xfrm>
            <a:off x="822960"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DECKS REACHED</a:t>
            </a:r>
          </a:p>
        </p:txBody>
      </p:sp>
      <p:sp>
        <p:nvSpPr>
          <p:cNvPr id="7" name="Rectangle 6"/>
          <p:cNvSpPr/>
          <p:nvPr/>
        </p:nvSpPr>
        <p:spPr>
          <a:xfrm>
            <a:off x="3340531"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4851"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1,400°F</a:t>
            </a:r>
          </a:p>
        </p:txBody>
      </p:sp>
      <p:sp>
        <p:nvSpPr>
          <p:cNvPr id="9" name="TextBox 8"/>
          <p:cNvSpPr txBox="1"/>
          <p:nvPr/>
        </p:nvSpPr>
        <p:spPr>
          <a:xfrm>
            <a:off x="3614851"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PEAK HEAT</a:t>
            </a:r>
          </a:p>
        </p:txBody>
      </p:sp>
      <p:sp>
        <p:nvSpPr>
          <p:cNvPr id="10" name="Rectangle 9"/>
          <p:cNvSpPr/>
          <p:nvPr/>
        </p:nvSpPr>
        <p:spPr>
          <a:xfrm>
            <a:off x="6132423"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6743"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4 days</a:t>
            </a:r>
          </a:p>
        </p:txBody>
      </p:sp>
      <p:sp>
        <p:nvSpPr>
          <p:cNvPr id="12" name="TextBox 11"/>
          <p:cNvSpPr txBox="1"/>
          <p:nvPr/>
        </p:nvSpPr>
        <p:spPr>
          <a:xfrm>
            <a:off x="6406743"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CREW ABOARD</a:t>
            </a:r>
          </a:p>
        </p:txBody>
      </p:sp>
      <p:sp>
        <p:nvSpPr>
          <p:cNvPr id="13" name="Rectangle 12"/>
          <p:cNvSpPr/>
          <p:nvPr/>
        </p:nvSpPr>
        <p:spPr>
          <a:xfrm>
            <a:off x="8924315"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635"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$3B+</a:t>
            </a:r>
          </a:p>
        </p:txBody>
      </p:sp>
      <p:sp>
        <p:nvSpPr>
          <p:cNvPr id="15" name="TextBox 14"/>
          <p:cNvSpPr txBox="1"/>
          <p:nvPr/>
        </p:nvSpPr>
        <p:spPr>
          <a:xfrm>
            <a:off x="9198635"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SCRAPPED, NOT REPAIRED</a:t>
            </a:r>
          </a:p>
        </p:txBody>
      </p:sp>
      <p:sp>
        <p:nvSpPr>
          <p:cNvPr id="16" name="TextBox 15"/>
          <p:cNvSpPr txBox="1"/>
          <p:nvPr/>
        </p:nvSpPr>
        <p:spPr>
          <a:xfrm>
            <a:off x="548640" y="5257800"/>
            <a:ext cx="8229600" cy="822960"/>
          </a:xfrm>
          <a:prstGeom prst="rect">
            <a:avLst/>
          </a:prstGeom>
          <a:noFill/>
        </p:spPr>
        <p:txBody>
          <a:bodyPr wrap="square" anchor="t" lIns="0" rIns="0" tIns="0" bIns="0">
            <a:spAutoFit/>
          </a:bodyPr>
          <a:lstStyle/>
          <a:p>
            <a:pPr algn="l">
              <a:lnSpc>
                <a:spcPct val="115000"/>
              </a:lnSpc>
            </a:pPr>
            <a:r>
              <a:rPr sz="2000" b="0">
                <a:solidFill>
                  <a:srgbClr val="AAB4C3"/>
                </a:solidFill>
                <a:latin typeface="Arial"/>
              </a:rPr>
              <a:t>Not a missing hose. </a:t>
            </a:r>
            <a:r>
              <a:rPr sz="2000" b="0">
                <a:solidFill>
                  <a:srgbClr val="F05A28"/>
                </a:solidFill>
                <a:latin typeface="Arial"/>
              </a:rPr>
              <a:t>A command that could not see inside its own hull.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2801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04  </a:t>
            </a:r>
            <a:r>
              <a:rPr sz="1000" b="0" spc="300">
                <a:solidFill>
                  <a:srgbClr val="6F7B8C"/>
                </a:solidFill>
                <a:latin typeface="Courier New"/>
              </a:rPr>
              <a:t>THE HARD PROBLEM</a:t>
            </a:r>
          </a:p>
        </p:txBody>
      </p:sp>
      <p:sp>
        <p:nvSpPr>
          <p:cNvPr id="3" name="TextBox 2"/>
          <p:cNvSpPr txBox="1"/>
          <p:nvPr/>
        </p:nvSpPr>
        <p:spPr>
          <a:xfrm>
            <a:off x="548640" y="164592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The fire destroys the sensors that report it.</a:t>
            </a:r>
          </a:p>
        </p:txBody>
      </p:sp>
      <p:sp>
        <p:nvSpPr>
          <p:cNvPr id="4" name="Rectangle 3"/>
          <p:cNvSpPr/>
          <p:nvPr/>
        </p:nvSpPr>
        <p:spPr>
          <a:xfrm>
            <a:off x="548640"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BLIND</a:t>
            </a:r>
          </a:p>
        </p:txBody>
      </p:sp>
      <p:sp>
        <p:nvSpPr>
          <p:cNvPr id="6" name="TextBox 5"/>
          <p:cNvSpPr txBox="1"/>
          <p:nvPr/>
        </p:nvSpPr>
        <p:spPr>
          <a:xfrm>
            <a:off x="731520"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22°</a:t>
            </a:r>
          </a:p>
        </p:txBody>
      </p:sp>
      <p:sp>
        <p:nvSpPr>
          <p:cNvPr id="7" name="TextBox 6"/>
          <p:cNvSpPr txBox="1"/>
          <p:nvPr/>
        </p:nvSpPr>
        <p:spPr>
          <a:xfrm>
            <a:off x="731520"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Smoke blinds the camera. Reads cold where it's hottest.</a:t>
            </a:r>
          </a:p>
        </p:txBody>
      </p:sp>
      <p:sp>
        <p:nvSpPr>
          <p:cNvPr id="8" name="Rectangle 7"/>
          <p:cNvSpPr/>
          <p:nvPr/>
        </p:nvSpPr>
        <p:spPr>
          <a:xfrm>
            <a:off x="3340531"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3411"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FREEZE</a:t>
            </a:r>
          </a:p>
        </p:txBody>
      </p:sp>
      <p:sp>
        <p:nvSpPr>
          <p:cNvPr id="10" name="TextBox 9"/>
          <p:cNvSpPr txBox="1"/>
          <p:nvPr/>
        </p:nvSpPr>
        <p:spPr>
          <a:xfrm>
            <a:off x="3523411"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310°</a:t>
            </a:r>
          </a:p>
        </p:txBody>
      </p:sp>
      <p:sp>
        <p:nvSpPr>
          <p:cNvPr id="11" name="TextBox 10"/>
          <p:cNvSpPr txBox="1"/>
          <p:nvPr/>
        </p:nvSpPr>
        <p:spPr>
          <a:xfrm>
            <a:off x="3523411"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Comms drop. Last reading sticks, still looks live.</a:t>
            </a:r>
          </a:p>
        </p:txBody>
      </p:sp>
      <p:sp>
        <p:nvSpPr>
          <p:cNvPr id="12" name="Rectangle 11"/>
          <p:cNvSpPr/>
          <p:nvPr/>
        </p:nvSpPr>
        <p:spPr>
          <a:xfrm>
            <a:off x="6132423"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SATURATE</a:t>
            </a:r>
          </a:p>
        </p:txBody>
      </p:sp>
      <p:sp>
        <p:nvSpPr>
          <p:cNvPr id="14" name="TextBox 13"/>
          <p:cNvSpPr txBox="1"/>
          <p:nvPr/>
        </p:nvSpPr>
        <p:spPr>
          <a:xfrm>
            <a:off x="6315303"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600°</a:t>
            </a:r>
          </a:p>
        </p:txBody>
      </p:sp>
      <p:sp>
        <p:nvSpPr>
          <p:cNvPr id="15" name="TextBox 14"/>
          <p:cNvSpPr txBox="1"/>
          <p:nvPr/>
        </p:nvSpPr>
        <p:spPr>
          <a:xfrm>
            <a:off x="6315303"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Heat pins the sensor at max. Every hot room reads the same.</a:t>
            </a:r>
          </a:p>
        </p:txBody>
      </p:sp>
      <p:sp>
        <p:nvSpPr>
          <p:cNvPr id="16" name="Rectangle 15"/>
          <p:cNvSpPr/>
          <p:nvPr/>
        </p:nvSpPr>
        <p:spPr>
          <a:xfrm>
            <a:off x="8924315"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7195"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FLASHOVER</a:t>
            </a:r>
          </a:p>
        </p:txBody>
      </p:sp>
      <p:sp>
        <p:nvSpPr>
          <p:cNvPr id="18" name="TextBox 17"/>
          <p:cNvSpPr txBox="1"/>
          <p:nvPr/>
        </p:nvSpPr>
        <p:spPr>
          <a:xfrm>
            <a:off x="9107195"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a:t>
            </a:r>
          </a:p>
        </p:txBody>
      </p:sp>
      <p:sp>
        <p:nvSpPr>
          <p:cNvPr id="19" name="TextBox 18"/>
          <p:cNvSpPr txBox="1"/>
          <p:nvPr/>
        </p:nvSpPr>
        <p:spPr>
          <a:xfrm>
            <a:off x="9107195"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A room flashes over. Every sensor in it dies at once.</a:t>
            </a:r>
          </a:p>
        </p:txBody>
      </p:sp>
      <p:sp>
        <p:nvSpPr>
          <p:cNvPr id="20" name="TextBox 19"/>
          <p:cNvSpPr txBox="1"/>
          <p:nvPr/>
        </p:nvSpPr>
        <p:spPr>
          <a:xfrm>
            <a:off x="548640" y="5303520"/>
            <a:ext cx="9144000" cy="82296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That's not noise. Noise averages out. That's </a:t>
            </a:r>
            <a:r>
              <a:rPr sz="1800" b="0">
                <a:solidFill>
                  <a:srgbClr val="F05A28"/>
                </a:solidFill>
                <a:latin typeface="Arial"/>
              </a:rPr>
              <a:t>corruption</a:t>
            </a:r>
            <a:r>
              <a:rPr sz="1800" b="0">
                <a:solidFill>
                  <a:srgbClr val="AAB4C3"/>
                </a:solidFill>
                <a:latin typeface="Arial"/>
              </a:rPr>
              <a:t> — and the estimator is never told which sensors are lying.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8229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05  </a:t>
            </a:r>
            <a:r>
              <a:rPr sz="1000" b="0" spc="300">
                <a:solidFill>
                  <a:srgbClr val="6F7B8C"/>
                </a:solidFill>
                <a:latin typeface="Courier New"/>
              </a:rPr>
              <a:t>WHY THE TEXTBOOK TOOL FAILS</a:t>
            </a:r>
          </a:p>
        </p:txBody>
      </p:sp>
      <p:sp>
        <p:nvSpPr>
          <p:cNvPr id="3" name="TextBox 2"/>
          <p:cNvSpPr txBox="1"/>
          <p:nvPr/>
        </p:nvSpPr>
        <p:spPr>
          <a:xfrm>
            <a:off x="548640" y="118872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A Kalman filter doesn't get fuzzy. It gets </a:t>
            </a:r>
            <a:r>
              <a:rPr sz="4000" b="0">
                <a:solidFill>
                  <a:srgbClr val="F05A28"/>
                </a:solidFill>
                <a:latin typeface="Arial Black"/>
              </a:rPr>
              <a:t>confidently wrong.</a:t>
            </a:r>
          </a:p>
        </p:txBody>
      </p:sp>
      <p:sp>
        <p:nvSpPr>
          <p:cNvPr id="4" name="Rectangle 3"/>
          <p:cNvSpPr/>
          <p:nvPr/>
        </p:nvSpPr>
        <p:spPr>
          <a:xfrm>
            <a:off x="548640" y="3474720"/>
            <a:ext cx="5510631" cy="1828800"/>
          </a:xfrm>
          <a:prstGeom prst="rect">
            <a:avLst/>
          </a:prstGeom>
          <a:solidFill>
            <a:srgbClr val="1C16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132423" y="3474720"/>
            <a:ext cx="5510631" cy="18288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657600"/>
            <a:ext cx="5510631" cy="274320"/>
          </a:xfrm>
          <a:prstGeom prst="rect">
            <a:avLst/>
          </a:prstGeom>
          <a:noFill/>
        </p:spPr>
        <p:txBody>
          <a:bodyPr wrap="square" anchor="t" lIns="0" rIns="0" tIns="0" bIns="0">
            <a:spAutoFit/>
          </a:bodyPr>
          <a:lstStyle/>
          <a:p>
            <a:pPr algn="l"/>
            <a:r>
              <a:rPr sz="900" b="0" spc="200">
                <a:solidFill>
                  <a:srgbClr val="6F7B8C"/>
                </a:solidFill>
                <a:latin typeface="Courier New"/>
              </a:rPr>
              <a:t>KALMAN BASELINE</a:t>
            </a:r>
          </a:p>
        </p:txBody>
      </p:sp>
      <p:sp>
        <p:nvSpPr>
          <p:cNvPr id="7" name="TextBox 6"/>
          <p:cNvSpPr txBox="1"/>
          <p:nvPr/>
        </p:nvSpPr>
        <p:spPr>
          <a:xfrm>
            <a:off x="868680" y="3931920"/>
            <a:ext cx="5510631" cy="1005840"/>
          </a:xfrm>
          <a:prstGeom prst="rect">
            <a:avLst/>
          </a:prstGeom>
          <a:noFill/>
        </p:spPr>
        <p:txBody>
          <a:bodyPr wrap="square" anchor="t" lIns="0" rIns="0" tIns="0" bIns="0">
            <a:spAutoFit/>
          </a:bodyPr>
          <a:lstStyle/>
          <a:p>
            <a:pPr algn="l"/>
            <a:r>
              <a:rPr sz="6600" b="0">
                <a:solidFill>
                  <a:srgbClr val="F05A28"/>
                </a:solidFill>
                <a:latin typeface="Arial Black"/>
              </a:rPr>
              <a:t>65%</a:t>
            </a:r>
          </a:p>
        </p:txBody>
      </p:sp>
      <p:sp>
        <p:nvSpPr>
          <p:cNvPr id="8" name="TextBox 7"/>
          <p:cNvSpPr txBox="1"/>
          <p:nvPr/>
        </p:nvSpPr>
        <p:spPr>
          <a:xfrm>
            <a:off x="868680" y="4892040"/>
            <a:ext cx="5510631" cy="365760"/>
          </a:xfrm>
          <a:prstGeom prst="rect">
            <a:avLst/>
          </a:prstGeom>
          <a:noFill/>
        </p:spPr>
        <p:txBody>
          <a:bodyPr wrap="square" anchor="t" lIns="0" rIns="0" tIns="0" bIns="0">
            <a:spAutoFit/>
          </a:bodyPr>
          <a:lstStyle/>
          <a:p>
            <a:pPr algn="l"/>
            <a:r>
              <a:rPr sz="1300" b="0">
                <a:solidFill>
                  <a:srgbClr val="AAB4C3"/>
                </a:solidFill>
                <a:latin typeface="Arial"/>
              </a:rPr>
              <a:t>of ticks confidently wrong</a:t>
            </a:r>
          </a:p>
        </p:txBody>
      </p:sp>
      <p:sp>
        <p:nvSpPr>
          <p:cNvPr id="9" name="TextBox 8"/>
          <p:cNvSpPr txBox="1"/>
          <p:nvPr/>
        </p:nvSpPr>
        <p:spPr>
          <a:xfrm>
            <a:off x="6452463" y="3657600"/>
            <a:ext cx="5510631" cy="274320"/>
          </a:xfrm>
          <a:prstGeom prst="rect">
            <a:avLst/>
          </a:prstGeom>
          <a:noFill/>
        </p:spPr>
        <p:txBody>
          <a:bodyPr wrap="square" anchor="t" lIns="0" rIns="0" tIns="0" bIns="0">
            <a:spAutoFit/>
          </a:bodyPr>
          <a:lstStyle/>
          <a:p>
            <a:pPr algn="l"/>
            <a:r>
              <a:rPr sz="900" b="0" spc="200">
                <a:solidFill>
                  <a:srgbClr val="6F7B8C"/>
                </a:solidFill>
                <a:latin typeface="Courier New"/>
              </a:rPr>
              <a:t>FIREFLY, SAME FEED</a:t>
            </a:r>
          </a:p>
        </p:txBody>
      </p:sp>
      <p:sp>
        <p:nvSpPr>
          <p:cNvPr id="10" name="TextBox 9"/>
          <p:cNvSpPr txBox="1"/>
          <p:nvPr/>
        </p:nvSpPr>
        <p:spPr>
          <a:xfrm>
            <a:off x="6452463" y="3931920"/>
            <a:ext cx="5510631" cy="1005840"/>
          </a:xfrm>
          <a:prstGeom prst="rect">
            <a:avLst/>
          </a:prstGeom>
          <a:noFill/>
        </p:spPr>
        <p:txBody>
          <a:bodyPr wrap="square" anchor="t" lIns="0" rIns="0" tIns="0" bIns="0">
            <a:spAutoFit/>
          </a:bodyPr>
          <a:lstStyle/>
          <a:p>
            <a:pPr algn="l"/>
            <a:r>
              <a:rPr sz="6600" b="0">
                <a:solidFill>
                  <a:srgbClr val="6AA9E0"/>
                </a:solidFill>
                <a:latin typeface="Arial Black"/>
              </a:rPr>
              <a:t>0%</a:t>
            </a:r>
          </a:p>
        </p:txBody>
      </p:sp>
      <p:sp>
        <p:nvSpPr>
          <p:cNvPr id="11" name="TextBox 10"/>
          <p:cNvSpPr txBox="1"/>
          <p:nvPr/>
        </p:nvSpPr>
        <p:spPr>
          <a:xfrm>
            <a:off x="6452463" y="4892040"/>
            <a:ext cx="5510631" cy="365760"/>
          </a:xfrm>
          <a:prstGeom prst="rect">
            <a:avLst/>
          </a:prstGeom>
          <a:noFill/>
        </p:spPr>
        <p:txBody>
          <a:bodyPr wrap="square" anchor="t" lIns="0" rIns="0" tIns="0" bIns="0">
            <a:spAutoFit/>
          </a:bodyPr>
          <a:lstStyle/>
          <a:p>
            <a:pPr algn="l"/>
            <a:r>
              <a:rPr sz="1300" b="0">
                <a:solidFill>
                  <a:srgbClr val="AAB4C3"/>
                </a:solidFill>
                <a:latin typeface="Arial"/>
              </a:rPr>
              <a:t>it says "maybe" and names both</a:t>
            </a:r>
          </a:p>
        </p:txBody>
      </p:sp>
      <p:sp>
        <p:nvSpPr>
          <p:cNvPr id="12" name="TextBox 11"/>
          <p:cNvSpPr txBox="1"/>
          <p:nvPr/>
        </p:nvSpPr>
        <p:spPr>
          <a:xfrm>
            <a:off x="548640" y="5532120"/>
            <a:ext cx="9144000" cy="73152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A confident wrong answer sends drones to the wrong floor — and looks exactly like a right one.</a:t>
            </a:r>
          </a:p>
        </p:txBody>
      </p:sp>
      <p:sp>
        <p:nvSpPr>
          <p:cNvPr id="13" name="TextBox 12"/>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npm run evidence · demo-6 · 60 ticks · seeds 1–5 · k=1 · sensor freezes at t=5 · results/evidence-cp2.json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06  </a:t>
            </a:r>
            <a:r>
              <a:rPr sz="1000" b="0" spc="300">
                <a:solidFill>
                  <a:srgbClr val="6F7B8C"/>
                </a:solidFill>
                <a:latin typeface="Courier New"/>
              </a:rPr>
              <a:t>WHAT WE'RE BUILDING</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Four pieces. One system.</a:t>
            </a:r>
          </a:p>
        </p:txBody>
      </p:sp>
      <p:sp>
        <p:nvSpPr>
          <p:cNvPr id="4" name="Rectangle 3"/>
          <p:cNvSpPr/>
          <p:nvPr/>
        </p:nvSpPr>
        <p:spPr>
          <a:xfrm>
            <a:off x="548640"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01</a:t>
            </a:r>
          </a:p>
        </p:txBody>
      </p:sp>
      <p:sp>
        <p:nvSpPr>
          <p:cNvPr id="7" name="TextBox 6"/>
          <p:cNvSpPr txBox="1"/>
          <p:nvPr/>
        </p:nvSpPr>
        <p:spPr>
          <a:xfrm>
            <a:off x="731520"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brain that knows what it doesn't know</a:t>
            </a:r>
          </a:p>
        </p:txBody>
      </p:sp>
      <p:sp>
        <p:nvSpPr>
          <p:cNvPr id="8" name="TextBox 7"/>
          <p:cNvSpPr txBox="1"/>
          <p:nvPr/>
        </p:nvSpPr>
        <p:spPr>
          <a:xfrm>
            <a:off x="731520"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Finds the fire from sensors the fire is killing. Reports a set of possible fires, not a false point.</a:t>
            </a:r>
          </a:p>
        </p:txBody>
      </p:sp>
      <p:sp>
        <p:nvSpPr>
          <p:cNvPr id="9" name="Rectangle 8"/>
          <p:cNvSpPr/>
          <p:nvPr/>
        </p:nvSpPr>
        <p:spPr>
          <a:xfrm>
            <a:off x="3340531"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40531"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3411"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02</a:t>
            </a:r>
          </a:p>
        </p:txBody>
      </p:sp>
      <p:sp>
        <p:nvSpPr>
          <p:cNvPr id="12" name="TextBox 11"/>
          <p:cNvSpPr txBox="1"/>
          <p:nvPr/>
        </p:nvSpPr>
        <p:spPr>
          <a:xfrm>
            <a:off x="3523411"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An allocator that treats drones as sensors</a:t>
            </a:r>
          </a:p>
        </p:txBody>
      </p:sp>
      <p:sp>
        <p:nvSpPr>
          <p:cNvPr id="13" name="TextBox 12"/>
          <p:cNvSpPr txBox="1"/>
          <p:nvPr/>
        </p:nvSpPr>
        <p:spPr>
          <a:xfrm>
            <a:off x="3523411"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Where we fight decides what we can see next. Suppression and observability, solved as one decision.</a:t>
            </a:r>
          </a:p>
        </p:txBody>
      </p:sp>
      <p:sp>
        <p:nvSpPr>
          <p:cNvPr id="14" name="Rectangle 13"/>
          <p:cNvSpPr/>
          <p:nvPr/>
        </p:nvSpPr>
        <p:spPr>
          <a:xfrm>
            <a:off x="6132423"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32423"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5303"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03</a:t>
            </a:r>
          </a:p>
        </p:txBody>
      </p:sp>
      <p:sp>
        <p:nvSpPr>
          <p:cNvPr id="17" name="TextBox 16"/>
          <p:cNvSpPr txBox="1"/>
          <p:nvPr/>
        </p:nvSpPr>
        <p:spPr>
          <a:xfrm>
            <a:off x="6315303"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swarm that already lives in the building</a:t>
            </a:r>
          </a:p>
        </p:txBody>
      </p:sp>
      <p:sp>
        <p:nvSpPr>
          <p:cNvPr id="18" name="TextBox 17"/>
          <p:cNvSpPr txBox="1"/>
          <p:nvPr/>
        </p:nvSpPr>
        <p:spPr>
          <a:xfrm>
            <a:off x="6315303"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Tethers, retardant carriers, door closers, scouts. They don't extinguish — they contain, and buy the crew time.</a:t>
            </a:r>
          </a:p>
        </p:txBody>
      </p:sp>
      <p:sp>
        <p:nvSpPr>
          <p:cNvPr id="19" name="Rectangle 18"/>
          <p:cNvSpPr/>
          <p:nvPr/>
        </p:nvSpPr>
        <p:spPr>
          <a:xfrm>
            <a:off x="8924315"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24315"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07195"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04</a:t>
            </a:r>
          </a:p>
        </p:txBody>
      </p:sp>
      <p:sp>
        <p:nvSpPr>
          <p:cNvPr id="22" name="TextBox 21"/>
          <p:cNvSpPr txBox="1"/>
          <p:nvPr/>
        </p:nvSpPr>
        <p:spPr>
          <a:xfrm>
            <a:off x="9107195"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commander's display</a:t>
            </a:r>
          </a:p>
        </p:txBody>
      </p:sp>
      <p:sp>
        <p:nvSpPr>
          <p:cNvPr id="23" name="TextBox 22"/>
          <p:cNvSpPr txBox="1"/>
          <p:nvPr/>
        </p:nvSpPr>
        <p:spPr>
          <a:xfrm>
            <a:off x="9107195"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What the incident commander sees: fire status beside a confidence that means something. Useful before a single drone is bought.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07  </a:t>
            </a:r>
            <a:r>
              <a:rPr sz="1000" b="0" spc="300">
                <a:solidFill>
                  <a:srgbClr val="6F7B8C"/>
                </a:solidFill>
                <a:latin typeface="Courier New"/>
              </a:rPr>
              <a:t>ANY STRUCTURE</a:t>
            </a:r>
          </a:p>
        </p:txBody>
      </p:sp>
      <p:sp>
        <p:nvSpPr>
          <p:cNvPr id="3" name="TextBox 2"/>
          <p:cNvSpPr txBox="1"/>
          <p:nvPr/>
        </p:nvSpPr>
        <p:spPr>
          <a:xfrm>
            <a:off x="548640" y="192024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The building is a JSON file. Not a rewrite.</a:t>
            </a:r>
          </a:p>
        </p:txBody>
      </p:sp>
      <p:sp>
        <p:nvSpPr>
          <p:cNvPr id="4" name="Rectangle 3"/>
          <p:cNvSpPr/>
          <p:nvPr/>
        </p:nvSpPr>
        <p:spPr>
          <a:xfrm>
            <a:off x="548640" y="3794760"/>
            <a:ext cx="731520" cy="411480"/>
          </a:xfrm>
          <a:prstGeom prst="rect">
            <a:avLst/>
          </a:prstGeom>
          <a:solidFill>
            <a:srgbClr val="0E1116"/>
          </a:solidFill>
          <a:ln w="9525">
            <a:solidFill>
              <a:srgbClr val="F05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731520" cy="411480"/>
          </a:xfrm>
          <a:prstGeom prst="rect">
            <a:avLst/>
          </a:prstGeom>
          <a:noFill/>
        </p:spPr>
        <p:txBody>
          <a:bodyPr wrap="square" anchor="ctr" lIns="0" rIns="0" tIns="0" bIns="0">
            <a:spAutoFit/>
          </a:bodyPr>
          <a:lstStyle/>
          <a:p>
            <a:pPr algn="ctr"/>
            <a:r>
              <a:rPr sz="1100" b="0">
                <a:solidFill>
                  <a:srgbClr val="F05A28"/>
                </a:solidFill>
                <a:latin typeface="Courier New"/>
              </a:rPr>
              <a:t>SHIP</a:t>
            </a:r>
          </a:p>
        </p:txBody>
      </p:sp>
      <p:sp>
        <p:nvSpPr>
          <p:cNvPr id="6" name="Rectangle 5"/>
          <p:cNvSpPr/>
          <p:nvPr/>
        </p:nvSpPr>
        <p:spPr>
          <a:xfrm>
            <a:off x="1389888" y="3794760"/>
            <a:ext cx="1325880"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89888" y="3794760"/>
            <a:ext cx="1325880" cy="411480"/>
          </a:xfrm>
          <a:prstGeom prst="rect">
            <a:avLst/>
          </a:prstGeom>
          <a:noFill/>
        </p:spPr>
        <p:txBody>
          <a:bodyPr wrap="square" anchor="ctr" lIns="0" rIns="0" tIns="0" bIns="0">
            <a:spAutoFit/>
          </a:bodyPr>
          <a:lstStyle/>
          <a:p>
            <a:pPr algn="ctr"/>
            <a:r>
              <a:rPr sz="1100" b="0">
                <a:solidFill>
                  <a:srgbClr val="AAB4C3"/>
                </a:solidFill>
                <a:latin typeface="Courier New"/>
              </a:rPr>
              <a:t>HIGH-RISE</a:t>
            </a:r>
          </a:p>
        </p:txBody>
      </p:sp>
      <p:sp>
        <p:nvSpPr>
          <p:cNvPr id="8" name="Rectangle 7"/>
          <p:cNvSpPr/>
          <p:nvPr/>
        </p:nvSpPr>
        <p:spPr>
          <a:xfrm>
            <a:off x="2825496" y="3794760"/>
            <a:ext cx="1325880"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5496" y="3794760"/>
            <a:ext cx="1325880" cy="411480"/>
          </a:xfrm>
          <a:prstGeom prst="rect">
            <a:avLst/>
          </a:prstGeom>
          <a:noFill/>
        </p:spPr>
        <p:txBody>
          <a:bodyPr wrap="square" anchor="ctr" lIns="0" rIns="0" tIns="0" bIns="0">
            <a:spAutoFit/>
          </a:bodyPr>
          <a:lstStyle/>
          <a:p>
            <a:pPr algn="ctr"/>
            <a:r>
              <a:rPr sz="1100" b="0">
                <a:solidFill>
                  <a:srgbClr val="AAB4C3"/>
                </a:solidFill>
                <a:latin typeface="Courier New"/>
              </a:rPr>
              <a:t>WAREHOUSE</a:t>
            </a:r>
          </a:p>
        </p:txBody>
      </p:sp>
      <p:sp>
        <p:nvSpPr>
          <p:cNvPr id="10" name="Rectangle 9"/>
          <p:cNvSpPr/>
          <p:nvPr/>
        </p:nvSpPr>
        <p:spPr>
          <a:xfrm>
            <a:off x="4261104" y="3794760"/>
            <a:ext cx="969264"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61104" y="3794760"/>
            <a:ext cx="969264" cy="411480"/>
          </a:xfrm>
          <a:prstGeom prst="rect">
            <a:avLst/>
          </a:prstGeom>
          <a:noFill/>
        </p:spPr>
        <p:txBody>
          <a:bodyPr wrap="square" anchor="ctr" lIns="0" rIns="0" tIns="0" bIns="0">
            <a:spAutoFit/>
          </a:bodyPr>
          <a:lstStyle/>
          <a:p>
            <a:pPr algn="ctr"/>
            <a:r>
              <a:rPr sz="1100" b="0">
                <a:solidFill>
                  <a:srgbClr val="AAB4C3"/>
                </a:solidFill>
                <a:latin typeface="Courier New"/>
              </a:rPr>
              <a:t>HANGAR</a:t>
            </a:r>
          </a:p>
        </p:txBody>
      </p:sp>
      <p:sp>
        <p:nvSpPr>
          <p:cNvPr id="12" name="Rectangle 11"/>
          <p:cNvSpPr/>
          <p:nvPr/>
        </p:nvSpPr>
        <p:spPr>
          <a:xfrm>
            <a:off x="5340096" y="3794760"/>
            <a:ext cx="2276856"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0096" y="3794760"/>
            <a:ext cx="2276856" cy="411480"/>
          </a:xfrm>
          <a:prstGeom prst="rect">
            <a:avLst/>
          </a:prstGeom>
          <a:noFill/>
        </p:spPr>
        <p:txBody>
          <a:bodyPr wrap="square" anchor="ctr" lIns="0" rIns="0" tIns="0" bIns="0">
            <a:spAutoFit/>
          </a:bodyPr>
          <a:lstStyle/>
          <a:p>
            <a:pPr algn="ctr"/>
            <a:r>
              <a:rPr sz="1100" b="0">
                <a:solidFill>
                  <a:srgbClr val="AAB4C3"/>
                </a:solidFill>
                <a:latin typeface="Courier New"/>
              </a:rPr>
              <a:t>PARKING STRUCTURE</a:t>
            </a:r>
          </a:p>
        </p:txBody>
      </p:sp>
      <p:sp>
        <p:nvSpPr>
          <p:cNvPr id="14" name="Rectangle 13"/>
          <p:cNvSpPr/>
          <p:nvPr/>
        </p:nvSpPr>
        <p:spPr>
          <a:xfrm>
            <a:off x="7726680" y="3794760"/>
            <a:ext cx="1563624"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0" y="3794760"/>
            <a:ext cx="1563624" cy="411480"/>
          </a:xfrm>
          <a:prstGeom prst="rect">
            <a:avLst/>
          </a:prstGeom>
          <a:noFill/>
        </p:spPr>
        <p:txBody>
          <a:bodyPr wrap="square" anchor="ctr" lIns="0" rIns="0" tIns="0" bIns="0">
            <a:spAutoFit/>
          </a:bodyPr>
          <a:lstStyle/>
          <a:p>
            <a:pPr algn="ctr"/>
            <a:r>
              <a:rPr sz="1100" b="0">
                <a:solidFill>
                  <a:srgbClr val="AAB4C3"/>
                </a:solidFill>
                <a:latin typeface="Courier New"/>
              </a:rPr>
              <a:t>DATA CENTER</a:t>
            </a:r>
          </a:p>
        </p:txBody>
      </p:sp>
      <p:sp>
        <p:nvSpPr>
          <p:cNvPr id="16" name="TextBox 15"/>
          <p:cNvSpPr txBox="1"/>
          <p:nvPr/>
        </p:nvSpPr>
        <p:spPr>
          <a:xfrm>
            <a:off x="548640" y="4526280"/>
            <a:ext cx="9144000" cy="1280160"/>
          </a:xfrm>
          <a:prstGeom prst="rect">
            <a:avLst/>
          </a:prstGeom>
          <a:noFill/>
        </p:spPr>
        <p:txBody>
          <a:bodyPr wrap="square" anchor="t" lIns="0" rIns="0" tIns="0" bIns="0">
            <a:spAutoFit/>
          </a:bodyPr>
          <a:lstStyle/>
          <a:p>
            <a:pPr algn="l">
              <a:lnSpc>
                <a:spcPct val="120000"/>
              </a:lnSpc>
            </a:pPr>
            <a:r>
              <a:rPr sz="1800" b="0">
                <a:solidFill>
                  <a:srgbClr val="AAB4C3"/>
                </a:solidFill>
                <a:latin typeface="Arial"/>
              </a:rPr>
              <a:t>Spaces, levels, and heat paths with per-edge transfer rates. A hull conducts through steel; a tower stacks up the shaft. </a:t>
            </a:r>
            <a:r>
              <a:rPr sz="1800" b="0">
                <a:solidFill>
                  <a:srgbClr val="F05A28"/>
                </a:solidFill>
                <a:latin typeface="Arial"/>
              </a:rPr>
              <a:t>Same brain, different file, nothing retrained.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6400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08  </a:t>
            </a:r>
            <a:r>
              <a:rPr sz="1000" b="0" spc="300">
                <a:solidFill>
                  <a:srgbClr val="6F7B8C"/>
                </a:solidFill>
                <a:latin typeface="Courier New"/>
              </a:rPr>
              <a:t>WHERE IT GOES</a:t>
            </a:r>
          </a:p>
        </p:txBody>
      </p:sp>
      <p:sp>
        <p:nvSpPr>
          <p:cNvPr id="3" name="TextBox 2"/>
          <p:cNvSpPr txBox="1"/>
          <p:nvPr/>
        </p:nvSpPr>
        <p:spPr>
          <a:xfrm>
            <a:off x="548640" y="100584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Start where the sensors are already installed.</a:t>
            </a:r>
          </a:p>
        </p:txBody>
      </p:sp>
      <p:sp>
        <p:nvSpPr>
          <p:cNvPr id="4" name="Rectangle 3"/>
          <p:cNvSpPr/>
          <p:nvPr/>
        </p:nvSpPr>
        <p:spPr>
          <a:xfrm>
            <a:off x="548640" y="2651760"/>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651760"/>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NAVY SHIPS</a:t>
            </a:r>
          </a:p>
        </p:txBody>
      </p:sp>
      <p:sp>
        <p:nvSpPr>
          <p:cNvPr id="6" name="TextBox 5"/>
          <p:cNvSpPr txBox="1"/>
          <p:nvPr/>
        </p:nvSpPr>
        <p:spPr>
          <a:xfrm>
            <a:off x="7756855" y="2651760"/>
            <a:ext cx="3657600" cy="603504"/>
          </a:xfrm>
          <a:prstGeom prst="rect">
            <a:avLst/>
          </a:prstGeom>
          <a:noFill/>
        </p:spPr>
        <p:txBody>
          <a:bodyPr wrap="square" anchor="ctr" lIns="0" rIns="0" tIns="0" bIns="0">
            <a:spAutoFit/>
          </a:bodyPr>
          <a:lstStyle/>
          <a:p>
            <a:pPr algn="r"/>
            <a:r>
              <a:rPr sz="2200" b="0">
                <a:solidFill>
                  <a:srgbClr val="E6EAF0"/>
                </a:solidFill>
                <a:latin typeface="Arial Black"/>
              </a:rPr>
              <a:t>~290 hulls</a:t>
            </a:r>
          </a:p>
        </p:txBody>
      </p:sp>
      <p:sp>
        <p:nvSpPr>
          <p:cNvPr id="7" name="Rectangle 6"/>
          <p:cNvSpPr/>
          <p:nvPr/>
        </p:nvSpPr>
        <p:spPr>
          <a:xfrm>
            <a:off x="548640" y="3310128"/>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310128"/>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DOD BUILDINGS</a:t>
            </a:r>
          </a:p>
        </p:txBody>
      </p:sp>
      <p:sp>
        <p:nvSpPr>
          <p:cNvPr id="9" name="TextBox 8"/>
          <p:cNvSpPr txBox="1"/>
          <p:nvPr/>
        </p:nvSpPr>
        <p:spPr>
          <a:xfrm>
            <a:off x="7756855" y="3310128"/>
            <a:ext cx="3657600" cy="603504"/>
          </a:xfrm>
          <a:prstGeom prst="rect">
            <a:avLst/>
          </a:prstGeom>
          <a:noFill/>
        </p:spPr>
        <p:txBody>
          <a:bodyPr wrap="square" anchor="ctr" lIns="0" rIns="0" tIns="0" bIns="0">
            <a:spAutoFit/>
          </a:bodyPr>
          <a:lstStyle/>
          <a:p>
            <a:pPr algn="r"/>
            <a:r>
              <a:rPr sz="2200" b="0">
                <a:solidFill>
                  <a:srgbClr val="E6EAF0"/>
                </a:solidFill>
                <a:latin typeface="Arial Black"/>
              </a:rPr>
              <a:t>344,950</a:t>
            </a:r>
          </a:p>
        </p:txBody>
      </p:sp>
      <p:sp>
        <p:nvSpPr>
          <p:cNvPr id="10" name="Rectangle 9"/>
          <p:cNvSpPr/>
          <p:nvPr/>
        </p:nvSpPr>
        <p:spPr>
          <a:xfrm>
            <a:off x="548640" y="3968496"/>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968496"/>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US BUILDINGS OVER 100K SQ FT</a:t>
            </a:r>
          </a:p>
        </p:txBody>
      </p:sp>
      <p:sp>
        <p:nvSpPr>
          <p:cNvPr id="12" name="TextBox 11"/>
          <p:cNvSpPr txBox="1"/>
          <p:nvPr/>
        </p:nvSpPr>
        <p:spPr>
          <a:xfrm>
            <a:off x="7756855" y="3968496"/>
            <a:ext cx="3657600" cy="603504"/>
          </a:xfrm>
          <a:prstGeom prst="rect">
            <a:avLst/>
          </a:prstGeom>
          <a:noFill/>
        </p:spPr>
        <p:txBody>
          <a:bodyPr wrap="square" anchor="ctr" lIns="0" rIns="0" tIns="0" bIns="0">
            <a:spAutoFit/>
          </a:bodyPr>
          <a:lstStyle/>
          <a:p>
            <a:pPr algn="r"/>
            <a:r>
              <a:rPr sz="2200" b="0">
                <a:solidFill>
                  <a:srgbClr val="E6EAF0"/>
                </a:solidFill>
                <a:latin typeface="Arial Black"/>
              </a:rPr>
              <a:t>~118,000</a:t>
            </a:r>
          </a:p>
        </p:txBody>
      </p:sp>
      <p:sp>
        <p:nvSpPr>
          <p:cNvPr id="13" name="Rectangle 12"/>
          <p:cNvSpPr/>
          <p:nvPr/>
        </p:nvSpPr>
        <p:spPr>
          <a:xfrm>
            <a:off x="548640" y="4626864"/>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626864"/>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FIREFIGHTING DRONE MARKET BY 2030</a:t>
            </a:r>
          </a:p>
        </p:txBody>
      </p:sp>
      <p:sp>
        <p:nvSpPr>
          <p:cNvPr id="15" name="TextBox 14"/>
          <p:cNvSpPr txBox="1"/>
          <p:nvPr/>
        </p:nvSpPr>
        <p:spPr>
          <a:xfrm>
            <a:off x="7756855" y="4626864"/>
            <a:ext cx="3657600" cy="603504"/>
          </a:xfrm>
          <a:prstGeom prst="rect">
            <a:avLst/>
          </a:prstGeom>
          <a:noFill/>
        </p:spPr>
        <p:txBody>
          <a:bodyPr wrap="square" anchor="ctr" lIns="0" rIns="0" tIns="0" bIns="0">
            <a:spAutoFit/>
          </a:bodyPr>
          <a:lstStyle/>
          <a:p>
            <a:pPr algn="r"/>
            <a:r>
              <a:rPr sz="2200" b="0">
                <a:solidFill>
                  <a:srgbClr val="E6EAF0"/>
                </a:solidFill>
                <a:latin typeface="Arial Black"/>
              </a:rPr>
              <a:t>$2.2B</a:t>
            </a:r>
          </a:p>
        </p:txBody>
      </p:sp>
      <p:sp>
        <p:nvSpPr>
          <p:cNvPr id="16" name="TextBox 15"/>
          <p:cNvSpPr txBox="1"/>
          <p:nvPr/>
        </p:nvSpPr>
        <p:spPr>
          <a:xfrm>
            <a:off x="548640" y="5486400"/>
            <a:ext cx="9144000" cy="82296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We're not selling the drone. </a:t>
            </a:r>
            <a:r>
              <a:rPr sz="1800" b="0">
                <a:solidFill>
                  <a:srgbClr val="F05A28"/>
                </a:solidFill>
                <a:latin typeface="Arial"/>
              </a:rPr>
              <a:t>We're the decision layer every one of those fleets needs and none of them has.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09  </a:t>
            </a:r>
            <a:r>
              <a:rPr sz="1000" b="0" spc="300">
                <a:solidFill>
                  <a:srgbClr val="6F7B8C"/>
                </a:solidFill>
                <a:latin typeface="Courier New"/>
              </a:rPr>
              <a:t>WHO BUYS</a:t>
            </a:r>
          </a:p>
        </p:txBody>
      </p:sp>
      <p:sp>
        <p:nvSpPr>
          <p:cNvPr id="3" name="TextBox 2"/>
          <p:cNvSpPr txBox="1"/>
          <p:nvPr/>
        </p:nvSpPr>
        <p:spPr>
          <a:xfrm>
            <a:off x="548640" y="91440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Sold to whoever holds the bill.</a:t>
            </a:r>
          </a:p>
        </p:txBody>
      </p:sp>
      <p:sp>
        <p:nvSpPr>
          <p:cNvPr id="4" name="Rectangle 3"/>
          <p:cNvSpPr/>
          <p:nvPr/>
        </p:nvSpPr>
        <p:spPr>
          <a:xfrm>
            <a:off x="548640"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GOVERNMENT &amp; MILITARY</a:t>
            </a:r>
          </a:p>
        </p:txBody>
      </p:sp>
      <p:sp>
        <p:nvSpPr>
          <p:cNvPr id="6" name="TextBox 5"/>
          <p:cNvSpPr txBox="1"/>
          <p:nvPr/>
        </p:nvSpPr>
        <p:spPr>
          <a:xfrm>
            <a:off x="548640"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Navy · DoD</a:t>
            </a:r>
          </a:p>
        </p:txBody>
      </p:sp>
      <p:sp>
        <p:nvSpPr>
          <p:cNvPr id="7" name="TextBox 6"/>
          <p:cNvSpPr txBox="1"/>
          <p:nvPr/>
        </p:nvSpPr>
        <p:spPr>
          <a:xfrm>
            <a:off x="548640"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Damage-control and facilities budgets already exist. One program office, one procurement, ~290 hulls and 344,950 buildings. Dual-use is the Defense track by definition.</a:t>
            </a:r>
          </a:p>
        </p:txBody>
      </p:sp>
      <p:sp>
        <p:nvSpPr>
          <p:cNvPr id="8" name="Rectangle 7"/>
          <p:cNvSpPr/>
          <p:nvPr/>
        </p:nvSpPr>
        <p:spPr>
          <a:xfrm>
            <a:off x="3402253"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2253"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BUILDING OWNERS &amp; OPERATORS</a:t>
            </a:r>
          </a:p>
        </p:txBody>
      </p:sp>
      <p:sp>
        <p:nvSpPr>
          <p:cNvPr id="10" name="TextBox 9"/>
          <p:cNvSpPr txBox="1"/>
          <p:nvPr/>
        </p:nvSpPr>
        <p:spPr>
          <a:xfrm>
            <a:off x="3402253"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High-rise · data center</a:t>
            </a:r>
          </a:p>
        </p:txBody>
      </p:sp>
      <p:sp>
        <p:nvSpPr>
          <p:cNvPr id="11" name="TextBox 10"/>
          <p:cNvSpPr txBox="1"/>
          <p:nvPr/>
        </p:nvSpPr>
        <p:spPr>
          <a:xfrm>
            <a:off x="3402253"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They pay for the fire and the downtime. A software layer on the alarm panel they already own, licensed per structure, before any drone is bought.</a:t>
            </a:r>
          </a:p>
        </p:txBody>
      </p:sp>
      <p:sp>
        <p:nvSpPr>
          <p:cNvPr id="12" name="Rectangle 11"/>
          <p:cNvSpPr/>
          <p:nvPr/>
        </p:nvSpPr>
        <p:spPr>
          <a:xfrm>
            <a:off x="6255867"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INSURERS</a:t>
            </a:r>
          </a:p>
        </p:txBody>
      </p:sp>
      <p:sp>
        <p:nvSpPr>
          <p:cNvPr id="14" name="TextBox 13"/>
          <p:cNvSpPr txBox="1"/>
          <p:nvPr/>
        </p:nvSpPr>
        <p:spPr>
          <a:xfrm>
            <a:off x="6255867"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Underwriters · reinsurers</a:t>
            </a:r>
          </a:p>
        </p:txBody>
      </p:sp>
      <p:sp>
        <p:nvSpPr>
          <p:cNvPr id="15" name="TextBox 14"/>
          <p:cNvSpPr txBox="1"/>
          <p:nvPr/>
        </p:nvSpPr>
        <p:spPr>
          <a:xfrm>
            <a:off x="6255867"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They price the loss. A structure with honest fire-state telemetry is a better risk: premium credits make them the distribution channel, not just a customer.</a:t>
            </a:r>
          </a:p>
        </p:txBody>
      </p:sp>
      <p:sp>
        <p:nvSpPr>
          <p:cNvPr id="16" name="Rectangle 15"/>
          <p:cNvSpPr/>
          <p:nvPr/>
        </p:nvSpPr>
        <p:spPr>
          <a:xfrm>
            <a:off x="9109481" y="2377440"/>
            <a:ext cx="2533573" cy="20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9481"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FIRE DEPARTMENTS</a:t>
            </a:r>
          </a:p>
        </p:txBody>
      </p:sp>
      <p:sp>
        <p:nvSpPr>
          <p:cNvPr id="18" name="TextBox 17"/>
          <p:cNvSpPr txBox="1"/>
          <p:nvPr/>
        </p:nvSpPr>
        <p:spPr>
          <a:xfrm>
            <a:off x="9109481" y="2834640"/>
            <a:ext cx="2533573" cy="640080"/>
          </a:xfrm>
          <a:prstGeom prst="rect">
            <a:avLst/>
          </a:prstGeom>
          <a:noFill/>
        </p:spPr>
        <p:txBody>
          <a:bodyPr wrap="square" anchor="t" lIns="0" rIns="0" tIns="0" bIns="0">
            <a:spAutoFit/>
          </a:bodyPr>
          <a:lstStyle/>
          <a:p>
            <a:pPr algn="l"/>
            <a:r>
              <a:rPr sz="3000" b="0">
                <a:solidFill>
                  <a:srgbClr val="6AA9E0"/>
                </a:solidFill>
                <a:latin typeface="Arial Black"/>
              </a:rPr>
              <a:t>Users, not buyers</a:t>
            </a:r>
          </a:p>
        </p:txBody>
      </p:sp>
      <p:sp>
        <p:nvSpPr>
          <p:cNvPr id="19" name="TextBox 18"/>
          <p:cNvSpPr txBox="1"/>
          <p:nvPr/>
        </p:nvSpPr>
        <p:spPr>
          <a:xfrm>
            <a:off x="9109481"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 incident commander's display. Free to the department; it is what makes the owner's and insurer's purchase worth anything on the day.</a:t>
            </a:r>
          </a:p>
        </p:txBody>
      </p:sp>
      <p:sp>
        <p:nvSpPr>
          <p:cNvPr id="20" name="TextBox 19"/>
          <p:cNvSpPr txBox="1"/>
          <p:nvPr/>
        </p:nvSpPr>
        <p:spPr>
          <a:xfrm>
            <a:off x="548640" y="5349240"/>
            <a:ext cx="10515600" cy="914400"/>
          </a:xfrm>
          <a:prstGeom prst="rect">
            <a:avLst/>
          </a:prstGeom>
          <a:noFill/>
        </p:spPr>
        <p:txBody>
          <a:bodyPr wrap="square" anchor="t" lIns="0" rIns="0" tIns="0" bIns="0">
            <a:spAutoFit/>
          </a:bodyPr>
          <a:lstStyle/>
          <a:p>
            <a:pPr algn="l">
              <a:lnSpc>
                <a:spcPct val="120000"/>
              </a:lnSpc>
            </a:pPr>
            <a:r>
              <a:rPr sz="1600" b="0">
                <a:solidFill>
                  <a:srgbClr val="AAB4C3"/>
                </a:solidFill>
                <a:latin typeface="Arial"/>
              </a:rPr>
              <a:t>The model: </a:t>
            </a:r>
            <a:r>
              <a:rPr sz="1600" b="0">
                <a:solidFill>
                  <a:srgbClr val="F05A28"/>
                </a:solidFill>
                <a:latin typeface="Arial"/>
              </a:rPr>
              <a:t>per-structure software license for the decision layer, drone-vendor agnostic.</a:t>
            </a:r>
            <a:r>
              <a:rPr sz="1600" b="0">
                <a:solidFill>
                  <a:srgbClr val="AAB4C3"/>
                </a:solidFill>
                <a:latin typeface="Arial"/>
              </a:rPr>
              <a:t> The sensors are already installed; the drones are somebody else's hardware; we are the part neither has.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210312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  </a:t>
            </a:r>
            <a:r>
              <a:rPr sz="1000" b="0" spc="300">
                <a:solidFill>
                  <a:srgbClr val="6F7B8C"/>
                </a:solidFill>
                <a:latin typeface="Courier New"/>
              </a:rPr>
              <a:t>THE ONE-SENTENCE VERSION</a:t>
            </a:r>
          </a:p>
        </p:txBody>
      </p:sp>
      <p:sp>
        <p:nvSpPr>
          <p:cNvPr id="3" name="TextBox 2"/>
          <p:cNvSpPr txBox="1"/>
          <p:nvPr/>
        </p:nvSpPr>
        <p:spPr>
          <a:xfrm>
            <a:off x="548640" y="2560320"/>
            <a:ext cx="7772400" cy="2377440"/>
          </a:xfrm>
          <a:prstGeom prst="rect">
            <a:avLst/>
          </a:prstGeom>
          <a:noFill/>
        </p:spPr>
        <p:txBody>
          <a:bodyPr wrap="square" anchor="t" lIns="0" rIns="0" tIns="0" bIns="0">
            <a:spAutoFit/>
          </a:bodyPr>
          <a:lstStyle/>
          <a:p>
            <a:pPr algn="l">
              <a:lnSpc>
                <a:spcPct val="115000"/>
              </a:lnSpc>
            </a:pPr>
            <a:r>
              <a:rPr sz="3200" b="0">
                <a:solidFill>
                  <a:srgbClr val="E6EAF0"/>
                </a:solidFill>
                <a:latin typeface="Arial"/>
              </a:rPr>
              <a:t>A wrong confident answer sends drones to the wrong floor. We're building the one that says </a:t>
            </a:r>
            <a:r>
              <a:rPr sz="3200" b="0">
                <a:solidFill>
                  <a:srgbClr val="F05A28"/>
                </a:solidFill>
                <a:latin typeface="Arial"/>
              </a:rPr>
              <a:t>"floor 22 or 30 — cover both."</a:t>
            </a:r>
          </a:p>
        </p:txBody>
      </p:sp>
      <p:sp>
        <p:nvSpPr>
          <p:cNvPr id="4" name="TextBox 3"/>
          <p:cNvSpPr txBox="1"/>
          <p:nvPr/>
        </p:nvSpPr>
        <p:spPr>
          <a:xfrm>
            <a:off x="548640" y="5120640"/>
            <a:ext cx="7315200" cy="274320"/>
          </a:xfrm>
          <a:prstGeom prst="rect">
            <a:avLst/>
          </a:prstGeom>
          <a:noFill/>
        </p:spPr>
        <p:txBody>
          <a:bodyPr wrap="square" anchor="t" lIns="0" rIns="0" tIns="0" bIns="0">
            <a:spAutoFit/>
          </a:bodyPr>
          <a:lstStyle/>
          <a:p>
            <a:pPr algn="l"/>
            <a:r>
              <a:rPr sz="1100" b="0">
                <a:solidFill>
                  <a:srgbClr val="AAB4C3"/>
                </a:solidFill>
                <a:latin typeface="Courier New"/>
              </a:rPr>
              <a:t>Firefly </a:t>
            </a:r>
            <a:r>
              <a:rPr sz="1100" b="0">
                <a:solidFill>
                  <a:srgbClr val="6F7B8C"/>
                </a:solidFill>
                <a:latin typeface="Courier New"/>
              </a:rPr>
              <a:t>Dean · Chase     </a:t>
            </a:r>
            <a:r>
              <a:rPr sz="1100" b="0">
                <a:solidFill>
                  <a:srgbClr val="AAB4C3"/>
                </a:solidFill>
                <a:latin typeface="Courier New"/>
              </a:rPr>
              <a:t>Track </a:t>
            </a:r>
            <a:r>
              <a:rPr sz="1100" b="0">
                <a:solidFill>
                  <a:srgbClr val="6F7B8C"/>
                </a:solidFill>
                <a:latin typeface="Courier New"/>
              </a:rPr>
              <a:t>Defense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457200"/>
            <a:ext cx="7315200" cy="274320"/>
          </a:xfrm>
          <a:prstGeom prst="rect">
            <a:avLst/>
          </a:prstGeom>
          <a:noFill/>
        </p:spPr>
        <p:txBody>
          <a:bodyPr wrap="square" anchor="t" lIns="0" rIns="0" tIns="0" bIns="0">
            <a:spAutoFit/>
          </a:bodyPr>
          <a:lstStyle/>
          <a:p>
            <a:pPr algn="l"/>
            <a:r>
              <a:rPr sz="1000" b="0" spc="300">
                <a:solidFill>
                  <a:srgbClr val="6F7B8C"/>
                </a:solidFill>
                <a:latin typeface="Courier New"/>
              </a:rPr>
              <a:t>○  </a:t>
            </a:r>
            <a:r>
              <a:rPr sz="1000" b="0" spc="300">
                <a:solidFill>
                  <a:srgbClr val="6F7B8C"/>
                </a:solidFill>
                <a:latin typeface="Courier New"/>
              </a:rPr>
              <a:t>BACKUP · ONLY IF A JUDGE ASKS</a:t>
            </a:r>
          </a:p>
        </p:txBody>
      </p:sp>
      <p:sp>
        <p:nvSpPr>
          <p:cNvPr id="3" name="TextBox 2"/>
          <p:cNvSpPr txBox="1"/>
          <p:nvPr/>
        </p:nvSpPr>
        <p:spPr>
          <a:xfrm>
            <a:off x="548640" y="82296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Sources.</a:t>
            </a:r>
          </a:p>
        </p:txBody>
      </p:sp>
      <p:sp>
        <p:nvSpPr>
          <p:cNvPr id="4" name="Rectangle 3"/>
          <p:cNvSpPr/>
          <p:nvPr/>
        </p:nvSpPr>
        <p:spPr>
          <a:xfrm>
            <a:off x="548640"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FIRE LOSS</a:t>
            </a:r>
          </a:p>
        </p:txBody>
      </p:sp>
      <p:sp>
        <p:nvSpPr>
          <p:cNvPr id="6" name="TextBox 5"/>
          <p:cNvSpPr txBox="1"/>
          <p:nvPr/>
        </p:nvSpPr>
        <p:spPr>
          <a:xfrm>
            <a:off x="548640"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NFPA, Fire Loss in the US During 2024 (Nov 2025) — 1.39M fires, $19.1B, 3,920 deaths, 119,500 non-residential fires at $3.6B.
NFPA / Univ. at Buffalo, Total Cost of Fire — $328.5B, 1.9% of GDP.
NFPA, Fatal Firefighter Injuries 2024 — 62 on-duty deaths.</a:t>
            </a:r>
          </a:p>
        </p:txBody>
      </p:sp>
      <p:sp>
        <p:nvSpPr>
          <p:cNvPr id="7" name="Rectangle 6"/>
          <p:cNvSpPr/>
          <p:nvPr/>
        </p:nvSpPr>
        <p:spPr>
          <a:xfrm>
            <a:off x="4353458"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53458"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DEFENSE</a:t>
            </a:r>
          </a:p>
        </p:txBody>
      </p:sp>
      <p:sp>
        <p:nvSpPr>
          <p:cNvPr id="9" name="TextBox 8"/>
          <p:cNvSpPr txBox="1"/>
          <p:nvPr/>
        </p:nvSpPr>
        <p:spPr>
          <a:xfrm>
            <a:off x="4353458"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GAO-23-105481, Navy Ship Fires — 15 major fires, ~$4B, two total losses.
GAO-26-107716 — fire prevention still hinges on oversight gaps.
Navy investigation reports, Oct 2021 — 11 of 14 decks, 1,400°F, $3B+.
DoD real property — 344,950 buildings.</a:t>
            </a:r>
          </a:p>
        </p:txBody>
      </p:sp>
      <p:sp>
        <p:nvSpPr>
          <p:cNvPr id="10" name="Rectangle 9"/>
          <p:cNvSpPr/>
          <p:nvPr/>
        </p:nvSpPr>
        <p:spPr>
          <a:xfrm>
            <a:off x="8158276"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8276"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COMMERCIAL &amp; MARKET</a:t>
            </a:r>
          </a:p>
        </p:txBody>
      </p:sp>
      <p:sp>
        <p:nvSpPr>
          <p:cNvPr id="12" name="TextBox 11"/>
          <p:cNvSpPr txBox="1"/>
          <p:nvPr/>
        </p:nvSpPr>
        <p:spPr>
          <a:xfrm>
            <a:off x="8158276"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NIST high-rise fireground field experiments — crew-size deltas to 23 min.
EMA Research 2024 — $14,056/min downtime.
Allianz Commercial on data-center claim severity.
EIA CBECS 2018 — 2% of 5.9M buildings over 100k sq ft.
TBRC — firefighting drones $1.46B (2025) → $2.22B (2030).</a:t>
            </a:r>
          </a:p>
        </p:txBody>
      </p:sp>
      <p:sp>
        <p:nvSpPr>
          <p:cNvPr id="13" name="TextBox 12"/>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Firefly's own figures come from npm run evidence: demo-6, 60 ticks, seeds 1–5, k=1, onset t=5. Recorded in results/evidence-cp2.json.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