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 Hi, I'm Chase.</a:t>
            </a:r>
          </a:p>
          <a:p>
            <a:r>
              <a:t>D: And I'm Dean. We're both computer science majors at Caltech, and we're building Firefly.</a:t>
            </a:r>
          </a:p>
          <a:p>
            <a:r>
              <a:t>C: Firefly is the decision brain for a firefighting drone swarm. When a building catches fire, nobody knows where the fire is. Not the crew outside. Not the people inside.</a:t>
            </a:r>
          </a:p>
          <a:p>
            <a:r>
              <a:t>D: We're building the system that figures it out, and sends the drones.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 In the US a fire department is dispatched every twenty-three seconds. One point four million fires a year. Nineteen billion dollars in direct damage. And a small crew in a high-rise needs twenty-three extra minutes before water is on the fire. Most of that is climbing, hauling, and finding it.</a:t>
            </a:r>
          </a:p>
          <a:p>
            <a:r>
              <a:t>D: Here's why it's hard. Every sensor in that building fails in a way that looks like good data. Soot coats a thermal lens, and it reads room temperature in the room that's burning. A radio link drops, and the panel keeps showing the last number it got. Heat pushes a sensor past its rated ceiling, and from then on three hundred degrees and eight hundred look the same. A room flashes over, the wiring melts, and every sensor in it goes dark.</a:t>
            </a:r>
          </a:p>
          <a:p>
            <a:r>
              <a:t>D: None of that is noise. Noise averages out. These are lies. They come in groups, they point the same direction, and nobody tells the estimator which sensors are lying.</a:t>
            </a:r>
          </a:p>
          <a:p>
            <a:r>
              <a:t>C: In 2020 the USS Bonhomme Richard burned for four days at the pier with the crew aboard, and the Navy scrapped her. That was not a missing hose. That was a command that could not see inside its own hull.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 So we're building two things. A drone fleet that lives in the building, and the brain that runs it.</a:t>
            </a:r>
          </a:p>
          <a:p>
            <a:r>
              <a:t>C: The fleet is heterogeneous. Tethers hold a line on the standpipe. Retardant carriers coat what hasn't burned yet. Hatch units close doors to starve the fire. Scouts are pure sensors. They don't extinguish, and they don't replace firefighters. They contain, and they buy the crew time.</a:t>
            </a:r>
          </a:p>
          <a:p>
            <a:r>
              <a:t>D: The brain has two parts. First, estimation. It uses the building's physics to catch lying sensors, and it reports the fire as certain, maybe, and a confidence that actually means something. We ran the textbook tool, a Kalman filter, on the same damaged feed. It's confidently wrong sixty-five percent of the time, at ninety-seven percent confidence. Ours: zero. When two fires both fit the evidence, it says so and names both.</a:t>
            </a:r>
          </a:p>
          <a:p>
            <a:r>
              <a:t>D: Second, dispatch. Every drone is also a sensor, so where we choose to fight decides what we can see next. When the brain can't separate two rooms, it covers both.</a:t>
            </a:r>
          </a:p>
          <a:p>
            <a:r>
              <a:t>C: The product is the hardware and the software together. This weekend is the software, proven in simulation.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 We start where the sensors are already installed. About two hundred ninety Navy hulls. Three hundred forty-four thousand DoD buildings. A hundred eighteen thousand commercial buildings over a hundred thousand square feet.</a:t>
            </a:r>
          </a:p>
          <a:p>
            <a:r>
              <a:t>C: Government and military first, where the budgets and the sensor networks already exist. Then owners and operators, who eat the damage and the downtime, a license per structure on the alarm panel they already have. Then insurers, who price the loss and can push it through premium credits.</a:t>
            </a:r>
          </a:p>
          <a:p>
            <a:r>
              <a:t>D: Fire departments don't pay. They get the commander's display, and that display is what makes everyone else's purchase worth anything on the day.</a:t>
            </a:r>
          </a:p>
          <a:p>
            <a:r>
              <a:t>D: A wrong confident answer sends drones to the wrong floor.</a:t>
            </a:r>
          </a:p>
          <a:p>
            <a:r>
              <a:t>C: We're building the one that says: floor twenty-two, or thirty.</a:t>
            </a:r>
          </a:p>
          <a:p>
            <a:r>
              <a:t>D: Cover both.</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E1116"/>
        </a:solidFill>
        <a:effectLst/>
      </p:bgPr>
    </p:bg>
    <p:spTree>
      <p:nvGrpSpPr>
        <p:cNvPr id="1" name=""/>
        <p:cNvGrpSpPr/>
        <p:nvPr/>
      </p:nvGrpSpPr>
      <p:grpSpPr/>
      <p:sp>
        <p:nvSpPr>
          <p:cNvPr id="2" name="TextBox 1"/>
          <p:cNvSpPr txBox="1"/>
          <p:nvPr/>
        </p:nvSpPr>
        <p:spPr>
          <a:xfrm>
            <a:off x="640080" y="1828800"/>
            <a:ext cx="7315200" cy="274320"/>
          </a:xfrm>
          <a:prstGeom prst="rect">
            <a:avLst/>
          </a:prstGeom>
          <a:noFill/>
        </p:spPr>
        <p:txBody>
          <a:bodyPr wrap="square" anchor="t" lIns="0" rIns="0" tIns="0" bIns="0">
            <a:spAutoFit/>
          </a:bodyPr>
          <a:lstStyle/>
          <a:p>
            <a:pPr algn="l"/>
            <a:r>
              <a:rPr sz="1000" b="0" spc="300">
                <a:solidFill>
                  <a:srgbClr val="F05A28"/>
                </a:solidFill>
                <a:latin typeface="Courier New"/>
              </a:rPr>
              <a:t>■  </a:t>
            </a:r>
            <a:r>
              <a:rPr sz="1000" b="0" spc="300">
                <a:solidFill>
                  <a:srgbClr val="6F7B8C"/>
                </a:solidFill>
                <a:latin typeface="Courier New"/>
              </a:rPr>
              <a:t>DEFENSE TRACK  ·  DEAN &amp; CHASE  ·  CALTECH</a:t>
            </a:r>
          </a:p>
        </p:txBody>
      </p:sp>
      <p:sp>
        <p:nvSpPr>
          <p:cNvPr id="3" name="Rectangle 2"/>
          <p:cNvSpPr/>
          <p:nvPr/>
        </p:nvSpPr>
        <p:spPr>
          <a:xfrm>
            <a:off x="640080" y="2286000"/>
            <a:ext cx="146304" cy="914400"/>
          </a:xfrm>
          <a:prstGeom prst="rect">
            <a:avLst/>
          </a:prstGeom>
          <a:solidFill>
            <a:srgbClr val="F05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148840"/>
            <a:ext cx="7315200" cy="1188720"/>
          </a:xfrm>
          <a:prstGeom prst="rect">
            <a:avLst/>
          </a:prstGeom>
          <a:noFill/>
        </p:spPr>
        <p:txBody>
          <a:bodyPr wrap="square" anchor="t" lIns="0" rIns="0" tIns="0" bIns="0">
            <a:spAutoFit/>
          </a:bodyPr>
          <a:lstStyle/>
          <a:p>
            <a:pPr algn="l"/>
            <a:r>
              <a:rPr sz="7200" b="0">
                <a:solidFill>
                  <a:srgbClr val="E6EAF0"/>
                </a:solidFill>
                <a:latin typeface="Arial Black"/>
              </a:rPr>
              <a:t>FIREFLY</a:t>
            </a:r>
          </a:p>
        </p:txBody>
      </p:sp>
      <p:sp>
        <p:nvSpPr>
          <p:cNvPr id="5" name="TextBox 4"/>
          <p:cNvSpPr txBox="1"/>
          <p:nvPr/>
        </p:nvSpPr>
        <p:spPr>
          <a:xfrm>
            <a:off x="640080" y="3520440"/>
            <a:ext cx="6583680" cy="2286000"/>
          </a:xfrm>
          <a:prstGeom prst="rect">
            <a:avLst/>
          </a:prstGeom>
          <a:noFill/>
        </p:spPr>
        <p:txBody>
          <a:bodyPr wrap="square" anchor="t" lIns="0" rIns="0" tIns="0" bIns="0">
            <a:spAutoFit/>
          </a:bodyPr>
          <a:lstStyle/>
          <a:p>
            <a:pPr algn="l">
              <a:lnSpc>
                <a:spcPct val="110000"/>
              </a:lnSpc>
            </a:pPr>
            <a:r>
              <a:rPr sz="3000" b="0">
                <a:solidFill>
                  <a:srgbClr val="E6EAF0"/>
                </a:solidFill>
                <a:latin typeface="Arial"/>
              </a:rPr>
              <a:t>Nobody knows where the fire is. </a:t>
            </a:r>
            <a:r>
              <a:rPr sz="3000" b="0">
                <a:solidFill>
                  <a:srgbClr val="F05A28"/>
                </a:solidFill>
                <a:latin typeface="Arial"/>
              </a:rPr>
              <a:t>We're building the system that figures it out and sends the drones.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E1116"/>
        </a:solidFill>
        <a:effectLst/>
      </p:bgPr>
    </p:bg>
    <p:spTree>
      <p:nvGrpSpPr>
        <p:cNvPr id="1" name=""/>
        <p:cNvGrpSpPr/>
        <p:nvPr/>
      </p:nvGrpSpPr>
      <p:grpSpPr/>
      <p:sp>
        <p:nvSpPr>
          <p:cNvPr id="2" name="TextBox 1"/>
          <p:cNvSpPr txBox="1"/>
          <p:nvPr/>
        </p:nvSpPr>
        <p:spPr>
          <a:xfrm>
            <a:off x="640080" y="457200"/>
            <a:ext cx="7315200" cy="274320"/>
          </a:xfrm>
          <a:prstGeom prst="rect">
            <a:avLst/>
          </a:prstGeom>
          <a:noFill/>
        </p:spPr>
        <p:txBody>
          <a:bodyPr wrap="square" anchor="t" lIns="0" rIns="0" tIns="0" bIns="0">
            <a:spAutoFit/>
          </a:bodyPr>
          <a:lstStyle/>
          <a:p>
            <a:pPr algn="l"/>
            <a:r>
              <a:rPr sz="1000" b="0" spc="300">
                <a:solidFill>
                  <a:srgbClr val="F05A28"/>
                </a:solidFill>
                <a:latin typeface="Courier New"/>
              </a:rPr>
              <a:t>01  </a:t>
            </a:r>
            <a:r>
              <a:rPr sz="1000" b="0" spc="300">
                <a:solidFill>
                  <a:srgbClr val="6F7B8C"/>
                </a:solidFill>
                <a:latin typeface="Courier New"/>
              </a:rPr>
              <a:t>THE PROBLEM</a:t>
            </a:r>
          </a:p>
        </p:txBody>
      </p:sp>
      <p:sp>
        <p:nvSpPr>
          <p:cNvPr id="3" name="TextBox 2"/>
          <p:cNvSpPr txBox="1"/>
          <p:nvPr/>
        </p:nvSpPr>
        <p:spPr>
          <a:xfrm>
            <a:off x="640080" y="777240"/>
            <a:ext cx="9601200" cy="1463040"/>
          </a:xfrm>
          <a:prstGeom prst="rect">
            <a:avLst/>
          </a:prstGeom>
          <a:noFill/>
        </p:spPr>
        <p:txBody>
          <a:bodyPr wrap="square" anchor="t" lIns="0" rIns="0" tIns="0" bIns="0">
            <a:spAutoFit/>
          </a:bodyPr>
          <a:lstStyle/>
          <a:p>
            <a:pPr algn="l">
              <a:lnSpc>
                <a:spcPct val="100000"/>
              </a:lnSpc>
            </a:pPr>
            <a:r>
              <a:rPr sz="3800" b="0">
                <a:solidFill>
                  <a:srgbClr val="E6EAF0"/>
                </a:solidFill>
                <a:latin typeface="Arial Black"/>
              </a:rPr>
              <a:t>The fire destroys the sensors that report it.</a:t>
            </a:r>
          </a:p>
        </p:txBody>
      </p:sp>
      <p:sp>
        <p:nvSpPr>
          <p:cNvPr id="4" name="TextBox 3"/>
          <p:cNvSpPr txBox="1"/>
          <p:nvPr/>
        </p:nvSpPr>
        <p:spPr>
          <a:xfrm>
            <a:off x="640080" y="2148840"/>
            <a:ext cx="3454298" cy="548640"/>
          </a:xfrm>
          <a:prstGeom prst="rect">
            <a:avLst/>
          </a:prstGeom>
          <a:noFill/>
        </p:spPr>
        <p:txBody>
          <a:bodyPr wrap="square" anchor="t" lIns="0" rIns="0" tIns="0" bIns="0">
            <a:spAutoFit/>
          </a:bodyPr>
          <a:lstStyle/>
          <a:p>
            <a:pPr algn="l"/>
            <a:r>
              <a:rPr sz="2800" b="0">
                <a:solidFill>
                  <a:srgbClr val="F05A28"/>
                </a:solidFill>
                <a:latin typeface="Arial Black"/>
              </a:rPr>
              <a:t>1.39M</a:t>
            </a:r>
          </a:p>
        </p:txBody>
      </p:sp>
      <p:sp>
        <p:nvSpPr>
          <p:cNvPr id="5" name="TextBox 4"/>
          <p:cNvSpPr txBox="1"/>
          <p:nvPr/>
        </p:nvSpPr>
        <p:spPr>
          <a:xfrm>
            <a:off x="640080" y="2697480"/>
            <a:ext cx="3454298" cy="548640"/>
          </a:xfrm>
          <a:prstGeom prst="rect">
            <a:avLst/>
          </a:prstGeom>
          <a:noFill/>
        </p:spPr>
        <p:txBody>
          <a:bodyPr wrap="square" anchor="t" lIns="0" rIns="0" tIns="0" bIns="0">
            <a:spAutoFit/>
          </a:bodyPr>
          <a:lstStyle/>
          <a:p>
            <a:pPr algn="l">
              <a:lnSpc>
                <a:spcPct val="110000"/>
              </a:lnSpc>
            </a:pPr>
            <a:r>
              <a:rPr sz="1100" b="0">
                <a:solidFill>
                  <a:srgbClr val="AAB4C3"/>
                </a:solidFill>
                <a:latin typeface="Arial"/>
              </a:rPr>
              <a:t>US fires a year</a:t>
            </a:r>
          </a:p>
        </p:txBody>
      </p:sp>
      <p:sp>
        <p:nvSpPr>
          <p:cNvPr id="6" name="TextBox 5"/>
          <p:cNvSpPr txBox="1"/>
          <p:nvPr/>
        </p:nvSpPr>
        <p:spPr>
          <a:xfrm>
            <a:off x="4368698" y="2148840"/>
            <a:ext cx="3454298" cy="548640"/>
          </a:xfrm>
          <a:prstGeom prst="rect">
            <a:avLst/>
          </a:prstGeom>
          <a:noFill/>
        </p:spPr>
        <p:txBody>
          <a:bodyPr wrap="square" anchor="t" lIns="0" rIns="0" tIns="0" bIns="0">
            <a:spAutoFit/>
          </a:bodyPr>
          <a:lstStyle/>
          <a:p>
            <a:pPr algn="l"/>
            <a:r>
              <a:rPr sz="2800" b="0">
                <a:solidFill>
                  <a:srgbClr val="F05A28"/>
                </a:solidFill>
                <a:latin typeface="Arial Black"/>
              </a:rPr>
              <a:t>$19.1B</a:t>
            </a:r>
          </a:p>
        </p:txBody>
      </p:sp>
      <p:sp>
        <p:nvSpPr>
          <p:cNvPr id="7" name="TextBox 6"/>
          <p:cNvSpPr txBox="1"/>
          <p:nvPr/>
        </p:nvSpPr>
        <p:spPr>
          <a:xfrm>
            <a:off x="4368698" y="2697480"/>
            <a:ext cx="3454298" cy="548640"/>
          </a:xfrm>
          <a:prstGeom prst="rect">
            <a:avLst/>
          </a:prstGeom>
          <a:noFill/>
        </p:spPr>
        <p:txBody>
          <a:bodyPr wrap="square" anchor="t" lIns="0" rIns="0" tIns="0" bIns="0">
            <a:spAutoFit/>
          </a:bodyPr>
          <a:lstStyle/>
          <a:p>
            <a:pPr algn="l">
              <a:lnSpc>
                <a:spcPct val="110000"/>
              </a:lnSpc>
            </a:pPr>
            <a:r>
              <a:rPr sz="1100" b="0">
                <a:solidFill>
                  <a:srgbClr val="AAB4C3"/>
                </a:solidFill>
                <a:latin typeface="Arial"/>
              </a:rPr>
              <a:t>in direct damage</a:t>
            </a:r>
          </a:p>
        </p:txBody>
      </p:sp>
      <p:sp>
        <p:nvSpPr>
          <p:cNvPr id="8" name="TextBox 7"/>
          <p:cNvSpPr txBox="1"/>
          <p:nvPr/>
        </p:nvSpPr>
        <p:spPr>
          <a:xfrm>
            <a:off x="8097316" y="2148840"/>
            <a:ext cx="3454298" cy="548640"/>
          </a:xfrm>
          <a:prstGeom prst="rect">
            <a:avLst/>
          </a:prstGeom>
          <a:noFill/>
        </p:spPr>
        <p:txBody>
          <a:bodyPr wrap="square" anchor="t" lIns="0" rIns="0" tIns="0" bIns="0">
            <a:spAutoFit/>
          </a:bodyPr>
          <a:lstStyle/>
          <a:p>
            <a:pPr algn="l"/>
            <a:r>
              <a:rPr sz="2800" b="0">
                <a:solidFill>
                  <a:srgbClr val="6AA9E0"/>
                </a:solidFill>
                <a:latin typeface="Arial Black"/>
              </a:rPr>
              <a:t>23 min</a:t>
            </a:r>
          </a:p>
        </p:txBody>
      </p:sp>
      <p:sp>
        <p:nvSpPr>
          <p:cNvPr id="9" name="TextBox 8"/>
          <p:cNvSpPr txBox="1"/>
          <p:nvPr/>
        </p:nvSpPr>
        <p:spPr>
          <a:xfrm>
            <a:off x="8097316" y="2697480"/>
            <a:ext cx="3454298" cy="548640"/>
          </a:xfrm>
          <a:prstGeom prst="rect">
            <a:avLst/>
          </a:prstGeom>
          <a:noFill/>
        </p:spPr>
        <p:txBody>
          <a:bodyPr wrap="square" anchor="t" lIns="0" rIns="0" tIns="0" bIns="0">
            <a:spAutoFit/>
          </a:bodyPr>
          <a:lstStyle/>
          <a:p>
            <a:pPr algn="l">
              <a:lnSpc>
                <a:spcPct val="110000"/>
              </a:lnSpc>
            </a:pPr>
            <a:r>
              <a:rPr sz="1100" b="0">
                <a:solidFill>
                  <a:srgbClr val="AAB4C3"/>
                </a:solidFill>
                <a:latin typeface="Arial"/>
              </a:rPr>
              <a:t>a small crew spends climbing, hauling, and finding a high-rise fire before water is on it</a:t>
            </a:r>
          </a:p>
        </p:txBody>
      </p:sp>
      <p:sp>
        <p:nvSpPr>
          <p:cNvPr id="10" name="Rectangle 9"/>
          <p:cNvSpPr/>
          <p:nvPr/>
        </p:nvSpPr>
        <p:spPr>
          <a:xfrm>
            <a:off x="640080" y="3429000"/>
            <a:ext cx="10911535" cy="9000"/>
          </a:xfrm>
          <a:prstGeom prst="rect">
            <a:avLst/>
          </a:prstGeom>
          <a:solidFill>
            <a:srgbClr val="2A32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3611880"/>
            <a:ext cx="10607040" cy="2103120"/>
          </a:xfrm>
          <a:prstGeom prst="rect">
            <a:avLst/>
          </a:prstGeom>
          <a:noFill/>
        </p:spPr>
        <p:txBody>
          <a:bodyPr wrap="square" anchor="t" lIns="0" rIns="0" tIns="0" bIns="0">
            <a:spAutoFit/>
          </a:bodyPr>
          <a:lstStyle/>
          <a:p>
            <a:pPr algn="l">
              <a:lnSpc>
                <a:spcPct val="125000"/>
              </a:lnSpc>
              <a:spcAft>
                <a:spcPts val="800"/>
              </a:spcAft>
            </a:pPr>
            <a:r>
              <a:rPr sz="1600" b="0">
                <a:solidFill>
                  <a:srgbClr val="E6EAF0"/>
                </a:solidFill>
                <a:latin typeface="Arial"/>
              </a:rPr>
              <a:t>Every sensor in a burning building fails in a way that looks like good data. </a:t>
            </a:r>
            <a:r>
              <a:rPr sz="1600" b="0">
                <a:solidFill>
                  <a:srgbClr val="AAB4C3"/>
                </a:solidFill>
                <a:latin typeface="Arial"/>
              </a:rPr>
              <a:t>Soot coats a thermal lens and it reads room temperature where it's hottest. A radio link drops and the panel keeps showing the last number. Heat pushes a sensor past its ceiling and 300° and 800° read the same. A room flashes over and every sensor in it goes dark.</a:t>
            </a:r>
          </a:p>
          <a:p>
            <a:pPr algn="l">
              <a:lnSpc>
                <a:spcPct val="125000"/>
              </a:lnSpc>
              <a:spcAft>
                <a:spcPts val="800"/>
              </a:spcAft>
            </a:pPr>
            <a:r>
              <a:rPr sz="1600" b="0">
                <a:solidFill>
                  <a:srgbClr val="AAB4C3"/>
                </a:solidFill>
                <a:latin typeface="Arial"/>
              </a:rPr>
              <a:t>That's not noise. Noise averages out. </a:t>
            </a:r>
            <a:r>
              <a:rPr sz="1600" b="0">
                <a:solidFill>
                  <a:srgbClr val="F05A28"/>
                </a:solidFill>
                <a:latin typeface="Arial"/>
              </a:rPr>
              <a:t>These are lies. They come in groups, they point the same direction, and nobody tells the estimator which sensors are lying.</a:t>
            </a:r>
          </a:p>
        </p:txBody>
      </p:sp>
      <p:sp>
        <p:nvSpPr>
          <p:cNvPr id="12" name="TextBox 11"/>
          <p:cNvSpPr txBox="1"/>
          <p:nvPr/>
        </p:nvSpPr>
        <p:spPr>
          <a:xfrm>
            <a:off x="640080" y="5806440"/>
            <a:ext cx="10607040" cy="548640"/>
          </a:xfrm>
          <a:prstGeom prst="rect">
            <a:avLst/>
          </a:prstGeom>
          <a:noFill/>
        </p:spPr>
        <p:txBody>
          <a:bodyPr wrap="square" anchor="t" lIns="0" rIns="0" tIns="0" bIns="0">
            <a:spAutoFit/>
          </a:bodyPr>
          <a:lstStyle/>
          <a:p>
            <a:pPr algn="l"/>
            <a:r>
              <a:rPr sz="1600" b="1">
                <a:solidFill>
                  <a:srgbClr val="E6EAF0"/>
                </a:solidFill>
                <a:latin typeface="Arial"/>
              </a:rPr>
              <a:t>Firefighters spend the first minutes climbing, hauling, and searching. </a:t>
            </a:r>
            <a:r>
              <a:rPr sz="1600" b="1">
                <a:solidFill>
                  <a:srgbClr val="F05A28"/>
                </a:solidFill>
                <a:latin typeface="Arial"/>
              </a:rPr>
              <a:t>That is the gap.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E1116"/>
        </a:solidFill>
        <a:effectLst/>
      </p:bgPr>
    </p:bg>
    <p:spTree>
      <p:nvGrpSpPr>
        <p:cNvPr id="1" name=""/>
        <p:cNvGrpSpPr/>
        <p:nvPr/>
      </p:nvGrpSpPr>
      <p:grpSpPr/>
      <p:sp>
        <p:nvSpPr>
          <p:cNvPr id="2" name="TextBox 1"/>
          <p:cNvSpPr txBox="1"/>
          <p:nvPr/>
        </p:nvSpPr>
        <p:spPr>
          <a:xfrm>
            <a:off x="640080" y="457200"/>
            <a:ext cx="7315200" cy="274320"/>
          </a:xfrm>
          <a:prstGeom prst="rect">
            <a:avLst/>
          </a:prstGeom>
          <a:noFill/>
        </p:spPr>
        <p:txBody>
          <a:bodyPr wrap="square" anchor="t" lIns="0" rIns="0" tIns="0" bIns="0">
            <a:spAutoFit/>
          </a:bodyPr>
          <a:lstStyle/>
          <a:p>
            <a:pPr algn="l"/>
            <a:r>
              <a:rPr sz="1000" b="0" spc="300">
                <a:solidFill>
                  <a:srgbClr val="F05A28"/>
                </a:solidFill>
                <a:latin typeface="Courier New"/>
              </a:rPr>
              <a:t>02  </a:t>
            </a:r>
            <a:r>
              <a:rPr sz="1000" b="0" spc="300">
                <a:solidFill>
                  <a:srgbClr val="6F7B8C"/>
                </a:solidFill>
                <a:latin typeface="Courier New"/>
              </a:rPr>
              <a:t>WHAT WE'RE MAKING</a:t>
            </a:r>
          </a:p>
        </p:txBody>
      </p:sp>
      <p:sp>
        <p:nvSpPr>
          <p:cNvPr id="3" name="TextBox 2"/>
          <p:cNvSpPr txBox="1"/>
          <p:nvPr/>
        </p:nvSpPr>
        <p:spPr>
          <a:xfrm>
            <a:off x="640080" y="777240"/>
            <a:ext cx="10515600" cy="1463040"/>
          </a:xfrm>
          <a:prstGeom prst="rect">
            <a:avLst/>
          </a:prstGeom>
          <a:noFill/>
        </p:spPr>
        <p:txBody>
          <a:bodyPr wrap="square" anchor="t" lIns="0" rIns="0" tIns="0" bIns="0">
            <a:spAutoFit/>
          </a:bodyPr>
          <a:lstStyle/>
          <a:p>
            <a:pPr algn="l">
              <a:lnSpc>
                <a:spcPct val="100000"/>
              </a:lnSpc>
            </a:pPr>
            <a:r>
              <a:rPr sz="3400" b="0">
                <a:solidFill>
                  <a:srgbClr val="E6EAF0"/>
                </a:solidFill>
                <a:latin typeface="Arial Black"/>
              </a:rPr>
              <a:t>A drone fleet that lives in the building, and the brain that runs it.</a:t>
            </a:r>
          </a:p>
        </p:txBody>
      </p:sp>
      <p:sp>
        <p:nvSpPr>
          <p:cNvPr id="4" name="Rectangle 3"/>
          <p:cNvSpPr/>
          <p:nvPr/>
        </p:nvSpPr>
        <p:spPr>
          <a:xfrm>
            <a:off x="640080" y="2331720"/>
            <a:ext cx="4206240" cy="20000"/>
          </a:xfrm>
          <a:prstGeom prst="rect">
            <a:avLst/>
          </a:prstGeom>
          <a:solidFill>
            <a:srgbClr val="6AA9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2514600"/>
            <a:ext cx="4206240" cy="274320"/>
          </a:xfrm>
          <a:prstGeom prst="rect">
            <a:avLst/>
          </a:prstGeom>
          <a:noFill/>
        </p:spPr>
        <p:txBody>
          <a:bodyPr wrap="square" anchor="t" lIns="0" rIns="0" tIns="0" bIns="0">
            <a:spAutoFit/>
          </a:bodyPr>
          <a:lstStyle/>
          <a:p>
            <a:pPr algn="l"/>
            <a:r>
              <a:rPr sz="1000" b="0" spc="300">
                <a:solidFill>
                  <a:srgbClr val="6AA9E0"/>
                </a:solidFill>
                <a:latin typeface="Courier New"/>
              </a:rPr>
              <a:t>THE FLEET</a:t>
            </a:r>
          </a:p>
        </p:txBody>
      </p:sp>
      <p:sp>
        <p:nvSpPr>
          <p:cNvPr id="6" name="TextBox 5"/>
          <p:cNvSpPr txBox="1"/>
          <p:nvPr/>
        </p:nvSpPr>
        <p:spPr>
          <a:xfrm>
            <a:off x="640080" y="2880360"/>
            <a:ext cx="4206240" cy="2926080"/>
          </a:xfrm>
          <a:prstGeom prst="rect">
            <a:avLst/>
          </a:prstGeom>
          <a:noFill/>
        </p:spPr>
        <p:txBody>
          <a:bodyPr wrap="square" anchor="t" lIns="0" rIns="0" tIns="0" bIns="0">
            <a:spAutoFit/>
          </a:bodyPr>
          <a:lstStyle/>
          <a:p>
            <a:pPr algn="l">
              <a:lnSpc>
                <a:spcPct val="120000"/>
              </a:lnSpc>
              <a:spcAft>
                <a:spcPts val="600"/>
              </a:spcAft>
            </a:pPr>
            <a:r>
              <a:rPr sz="1500" b="0">
                <a:solidFill>
                  <a:srgbClr val="E6EAF0"/>
                </a:solidFill>
                <a:latin typeface="Arial"/>
              </a:rPr>
              <a:t>Tethers</a:t>
            </a:r>
            <a:r>
              <a:rPr sz="1500" b="0">
                <a:solidFill>
                  <a:srgbClr val="AAB4C3"/>
                </a:solidFill>
                <a:latin typeface="Arial"/>
              </a:rPr>
              <a:t> hold a line on the standpipe.</a:t>
            </a:r>
          </a:p>
          <a:p>
            <a:pPr algn="l">
              <a:lnSpc>
                <a:spcPct val="120000"/>
              </a:lnSpc>
              <a:spcAft>
                <a:spcPts val="600"/>
              </a:spcAft>
            </a:pPr>
            <a:r>
              <a:rPr sz="1500" b="0">
                <a:solidFill>
                  <a:srgbClr val="E6EAF0"/>
                </a:solidFill>
                <a:latin typeface="Arial"/>
              </a:rPr>
              <a:t>Retardant carriers</a:t>
            </a:r>
            <a:r>
              <a:rPr sz="1500" b="0">
                <a:solidFill>
                  <a:srgbClr val="AAB4C3"/>
                </a:solidFill>
                <a:latin typeface="Arial"/>
              </a:rPr>
              <a:t> coat what hasn't burned yet.</a:t>
            </a:r>
          </a:p>
          <a:p>
            <a:pPr algn="l">
              <a:lnSpc>
                <a:spcPct val="120000"/>
              </a:lnSpc>
              <a:spcAft>
                <a:spcPts val="600"/>
              </a:spcAft>
            </a:pPr>
            <a:r>
              <a:rPr sz="1500" b="0">
                <a:solidFill>
                  <a:srgbClr val="E6EAF0"/>
                </a:solidFill>
                <a:latin typeface="Arial"/>
              </a:rPr>
              <a:t>Hatch units</a:t>
            </a:r>
            <a:r>
              <a:rPr sz="1500" b="0">
                <a:solidFill>
                  <a:srgbClr val="AAB4C3"/>
                </a:solidFill>
                <a:latin typeface="Arial"/>
              </a:rPr>
              <a:t> close doors to starve the fire.</a:t>
            </a:r>
          </a:p>
          <a:p>
            <a:pPr algn="l">
              <a:lnSpc>
                <a:spcPct val="120000"/>
              </a:lnSpc>
              <a:spcAft>
                <a:spcPts val="600"/>
              </a:spcAft>
            </a:pPr>
            <a:r>
              <a:rPr sz="1500" b="0">
                <a:solidFill>
                  <a:srgbClr val="E6EAF0"/>
                </a:solidFill>
                <a:latin typeface="Arial"/>
              </a:rPr>
              <a:t>Scouts</a:t>
            </a:r>
            <a:r>
              <a:rPr sz="1500" b="0">
                <a:solidFill>
                  <a:srgbClr val="AAB4C3"/>
                </a:solidFill>
                <a:latin typeface="Arial"/>
              </a:rPr>
              <a:t> are pure sensors.</a:t>
            </a:r>
          </a:p>
          <a:p>
            <a:pPr algn="l">
              <a:lnSpc>
                <a:spcPct val="120000"/>
              </a:lnSpc>
              <a:spcAft>
                <a:spcPts val="600"/>
              </a:spcAft>
            </a:pPr>
          </a:p>
          <a:p>
            <a:pPr algn="l">
              <a:lnSpc>
                <a:spcPct val="120000"/>
              </a:lnSpc>
              <a:spcAft>
                <a:spcPts val="600"/>
              </a:spcAft>
            </a:pPr>
            <a:r>
              <a:rPr sz="1500" b="0">
                <a:solidFill>
                  <a:srgbClr val="AAB4C3"/>
                </a:solidFill>
                <a:latin typeface="Arial"/>
              </a:rPr>
              <a:t>They don't extinguish, and they don't replace firefighters. </a:t>
            </a:r>
            <a:r>
              <a:rPr sz="1500" b="0">
                <a:solidFill>
                  <a:srgbClr val="E6EAF0"/>
                </a:solidFill>
                <a:latin typeface="Arial"/>
              </a:rPr>
              <a:t>They contain, and buy the crew time.</a:t>
            </a:r>
          </a:p>
        </p:txBody>
      </p:sp>
      <p:sp>
        <p:nvSpPr>
          <p:cNvPr id="7" name="Rectangle 6"/>
          <p:cNvSpPr/>
          <p:nvPr/>
        </p:nvSpPr>
        <p:spPr>
          <a:xfrm>
            <a:off x="5166360" y="2331720"/>
            <a:ext cx="6385255" cy="20000"/>
          </a:xfrm>
          <a:prstGeom prst="rect">
            <a:avLst/>
          </a:prstGeom>
          <a:solidFill>
            <a:srgbClr val="F05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166360" y="2514600"/>
            <a:ext cx="6385255" cy="274320"/>
          </a:xfrm>
          <a:prstGeom prst="rect">
            <a:avLst/>
          </a:prstGeom>
          <a:noFill/>
        </p:spPr>
        <p:txBody>
          <a:bodyPr wrap="square" anchor="t" lIns="0" rIns="0" tIns="0" bIns="0">
            <a:spAutoFit/>
          </a:bodyPr>
          <a:lstStyle/>
          <a:p>
            <a:pPr algn="l"/>
            <a:r>
              <a:rPr sz="1000" b="0" spc="300">
                <a:solidFill>
                  <a:srgbClr val="F05A28"/>
                </a:solidFill>
                <a:latin typeface="Courier New"/>
              </a:rPr>
              <a:t>THE BRAIN  ·  TWO PARTS</a:t>
            </a:r>
          </a:p>
        </p:txBody>
      </p:sp>
      <p:sp>
        <p:nvSpPr>
          <p:cNvPr id="9" name="TextBox 8"/>
          <p:cNvSpPr txBox="1"/>
          <p:nvPr/>
        </p:nvSpPr>
        <p:spPr>
          <a:xfrm>
            <a:off x="5166360" y="2880360"/>
            <a:ext cx="6385255" cy="1371600"/>
          </a:xfrm>
          <a:prstGeom prst="rect">
            <a:avLst/>
          </a:prstGeom>
          <a:noFill/>
        </p:spPr>
        <p:txBody>
          <a:bodyPr wrap="square" anchor="t" lIns="0" rIns="0" tIns="0" bIns="0">
            <a:spAutoFit/>
          </a:bodyPr>
          <a:lstStyle/>
          <a:p>
            <a:pPr algn="l">
              <a:lnSpc>
                <a:spcPct val="125000"/>
              </a:lnSpc>
            </a:pPr>
            <a:r>
              <a:rPr sz="1400" b="0">
                <a:solidFill>
                  <a:srgbClr val="E6EAF0"/>
                </a:solidFill>
                <a:latin typeface="Arial"/>
              </a:rPr>
              <a:t>1  Estimation. </a:t>
            </a:r>
            <a:r>
              <a:rPr sz="1400" b="0">
                <a:solidFill>
                  <a:srgbClr val="AAB4C3"/>
                </a:solidFill>
                <a:latin typeface="Arial"/>
              </a:rPr>
              <a:t>Uses the building's physics to catch lying sensors, then reports the fire as </a:t>
            </a:r>
            <a:r>
              <a:rPr sz="1400" b="0">
                <a:solidFill>
                  <a:srgbClr val="E6EAF0"/>
                </a:solidFill>
                <a:latin typeface="Arial"/>
              </a:rPr>
              <a:t>certain, maybe, and a confidence that means something.</a:t>
            </a:r>
            <a:r>
              <a:rPr sz="1400" b="0">
                <a:solidFill>
                  <a:srgbClr val="AAB4C3"/>
                </a:solidFill>
                <a:latin typeface="Arial"/>
              </a:rPr>
              <a:t> On the same damaged feed the textbook filter is confidently wrong </a:t>
            </a:r>
            <a:r>
              <a:rPr sz="1400" b="0">
                <a:solidFill>
                  <a:srgbClr val="F05A28"/>
                </a:solidFill>
                <a:latin typeface="Arial"/>
              </a:rPr>
              <a:t>65%</a:t>
            </a:r>
            <a:r>
              <a:rPr sz="1400" b="0">
                <a:solidFill>
                  <a:srgbClr val="AAB4C3"/>
                </a:solidFill>
                <a:latin typeface="Arial"/>
              </a:rPr>
              <a:t> of the time. Ours: </a:t>
            </a:r>
            <a:r>
              <a:rPr sz="1400" b="0">
                <a:solidFill>
                  <a:srgbClr val="6AA9E0"/>
                </a:solidFill>
                <a:latin typeface="Arial"/>
              </a:rPr>
              <a:t>0%.</a:t>
            </a:r>
          </a:p>
        </p:txBody>
      </p:sp>
      <p:sp>
        <p:nvSpPr>
          <p:cNvPr id="10" name="TextBox 9"/>
          <p:cNvSpPr txBox="1"/>
          <p:nvPr/>
        </p:nvSpPr>
        <p:spPr>
          <a:xfrm>
            <a:off x="5166360" y="4343400"/>
            <a:ext cx="6385255" cy="1097280"/>
          </a:xfrm>
          <a:prstGeom prst="rect">
            <a:avLst/>
          </a:prstGeom>
          <a:noFill/>
        </p:spPr>
        <p:txBody>
          <a:bodyPr wrap="square" anchor="t" lIns="0" rIns="0" tIns="0" bIns="0">
            <a:spAutoFit/>
          </a:bodyPr>
          <a:lstStyle/>
          <a:p>
            <a:pPr algn="l">
              <a:lnSpc>
                <a:spcPct val="125000"/>
              </a:lnSpc>
            </a:pPr>
            <a:r>
              <a:rPr sz="1400" b="0">
                <a:solidFill>
                  <a:srgbClr val="E6EAF0"/>
                </a:solidFill>
                <a:latin typeface="Arial"/>
              </a:rPr>
              <a:t>2  Dispatch. </a:t>
            </a:r>
            <a:r>
              <a:rPr sz="1400" b="0">
                <a:solidFill>
                  <a:srgbClr val="AAB4C3"/>
                </a:solidFill>
                <a:latin typeface="Arial"/>
              </a:rPr>
              <a:t>Every drone is also a sensor, so where we fight decides what we see next. </a:t>
            </a:r>
            <a:r>
              <a:rPr sz="1400" b="0">
                <a:solidFill>
                  <a:srgbClr val="E6EAF0"/>
                </a:solidFill>
                <a:latin typeface="Arial"/>
              </a:rPr>
              <a:t>When the brain can't separate two rooms, it covers both.</a:t>
            </a:r>
          </a:p>
        </p:txBody>
      </p:sp>
      <p:sp>
        <p:nvSpPr>
          <p:cNvPr id="11" name="TextBox 10"/>
          <p:cNvSpPr txBox="1"/>
          <p:nvPr/>
        </p:nvSpPr>
        <p:spPr>
          <a:xfrm>
            <a:off x="640080" y="5760720"/>
            <a:ext cx="10607040" cy="548640"/>
          </a:xfrm>
          <a:prstGeom prst="rect">
            <a:avLst/>
          </a:prstGeom>
          <a:noFill/>
        </p:spPr>
        <p:txBody>
          <a:bodyPr wrap="square" anchor="t" lIns="0" rIns="0" tIns="0" bIns="0">
            <a:spAutoFit/>
          </a:bodyPr>
          <a:lstStyle/>
          <a:p>
            <a:pPr algn="l"/>
            <a:r>
              <a:rPr sz="1600" b="1">
                <a:solidFill>
                  <a:srgbClr val="E6EAF0"/>
                </a:solidFill>
                <a:latin typeface="Arial"/>
              </a:rPr>
              <a:t>The product is the hardware and the software together. </a:t>
            </a:r>
            <a:r>
              <a:rPr sz="1600" b="1">
                <a:solidFill>
                  <a:srgbClr val="F05A28"/>
                </a:solidFill>
                <a:latin typeface="Arial"/>
              </a:rPr>
              <a:t>This weekend is the software, proven in simulation.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E1116"/>
        </a:solidFill>
        <a:effectLst/>
      </p:bgPr>
    </p:bg>
    <p:spTree>
      <p:nvGrpSpPr>
        <p:cNvPr id="1" name=""/>
        <p:cNvGrpSpPr/>
        <p:nvPr/>
      </p:nvGrpSpPr>
      <p:grpSpPr/>
      <p:sp>
        <p:nvSpPr>
          <p:cNvPr id="2" name="TextBox 1"/>
          <p:cNvSpPr txBox="1"/>
          <p:nvPr/>
        </p:nvSpPr>
        <p:spPr>
          <a:xfrm>
            <a:off x="640080" y="457200"/>
            <a:ext cx="7315200" cy="274320"/>
          </a:xfrm>
          <a:prstGeom prst="rect">
            <a:avLst/>
          </a:prstGeom>
          <a:noFill/>
        </p:spPr>
        <p:txBody>
          <a:bodyPr wrap="square" anchor="t" lIns="0" rIns="0" tIns="0" bIns="0">
            <a:spAutoFit/>
          </a:bodyPr>
          <a:lstStyle/>
          <a:p>
            <a:pPr algn="l"/>
            <a:r>
              <a:rPr sz="1000" b="0" spc="300">
                <a:solidFill>
                  <a:srgbClr val="F05A28"/>
                </a:solidFill>
                <a:latin typeface="Courier New"/>
              </a:rPr>
              <a:t>03  </a:t>
            </a:r>
            <a:r>
              <a:rPr sz="1000" b="0" spc="300">
                <a:solidFill>
                  <a:srgbClr val="6F7B8C"/>
                </a:solidFill>
                <a:latin typeface="Courier New"/>
              </a:rPr>
              <a:t>THE MARKET</a:t>
            </a:r>
          </a:p>
        </p:txBody>
      </p:sp>
      <p:sp>
        <p:nvSpPr>
          <p:cNvPr id="3" name="TextBox 2"/>
          <p:cNvSpPr txBox="1"/>
          <p:nvPr/>
        </p:nvSpPr>
        <p:spPr>
          <a:xfrm>
            <a:off x="640080" y="777240"/>
            <a:ext cx="9601200" cy="1463040"/>
          </a:xfrm>
          <a:prstGeom prst="rect">
            <a:avLst/>
          </a:prstGeom>
          <a:noFill/>
        </p:spPr>
        <p:txBody>
          <a:bodyPr wrap="square" anchor="t" lIns="0" rIns="0" tIns="0" bIns="0">
            <a:spAutoFit/>
          </a:bodyPr>
          <a:lstStyle/>
          <a:p>
            <a:pPr algn="l">
              <a:lnSpc>
                <a:spcPct val="100000"/>
              </a:lnSpc>
            </a:pPr>
            <a:r>
              <a:rPr sz="3800" b="0">
                <a:solidFill>
                  <a:srgbClr val="E6EAF0"/>
                </a:solidFill>
                <a:latin typeface="Arial Black"/>
              </a:rPr>
              <a:t>Start where the sensors are already installed.</a:t>
            </a:r>
          </a:p>
        </p:txBody>
      </p:sp>
      <p:sp>
        <p:nvSpPr>
          <p:cNvPr id="4" name="TextBox 3"/>
          <p:cNvSpPr txBox="1"/>
          <p:nvPr/>
        </p:nvSpPr>
        <p:spPr>
          <a:xfrm>
            <a:off x="640080" y="2148840"/>
            <a:ext cx="3454298" cy="548640"/>
          </a:xfrm>
          <a:prstGeom prst="rect">
            <a:avLst/>
          </a:prstGeom>
          <a:noFill/>
        </p:spPr>
        <p:txBody>
          <a:bodyPr wrap="square" anchor="t" lIns="0" rIns="0" tIns="0" bIns="0">
            <a:spAutoFit/>
          </a:bodyPr>
          <a:lstStyle/>
          <a:p>
            <a:pPr algn="l"/>
            <a:r>
              <a:rPr sz="2800" b="0">
                <a:solidFill>
                  <a:srgbClr val="F05A28"/>
                </a:solidFill>
                <a:latin typeface="Arial Black"/>
              </a:rPr>
              <a:t>~290</a:t>
            </a:r>
          </a:p>
        </p:txBody>
      </p:sp>
      <p:sp>
        <p:nvSpPr>
          <p:cNvPr id="5" name="TextBox 4"/>
          <p:cNvSpPr txBox="1"/>
          <p:nvPr/>
        </p:nvSpPr>
        <p:spPr>
          <a:xfrm>
            <a:off x="640080" y="2697480"/>
            <a:ext cx="3454298" cy="548640"/>
          </a:xfrm>
          <a:prstGeom prst="rect">
            <a:avLst/>
          </a:prstGeom>
          <a:noFill/>
        </p:spPr>
        <p:txBody>
          <a:bodyPr wrap="square" anchor="t" lIns="0" rIns="0" tIns="0" bIns="0">
            <a:spAutoFit/>
          </a:bodyPr>
          <a:lstStyle/>
          <a:p>
            <a:pPr algn="l">
              <a:lnSpc>
                <a:spcPct val="110000"/>
              </a:lnSpc>
            </a:pPr>
            <a:r>
              <a:rPr sz="1100" b="0">
                <a:solidFill>
                  <a:srgbClr val="AAB4C3"/>
                </a:solidFill>
                <a:latin typeface="Arial"/>
              </a:rPr>
              <a:t>Navy hulls</a:t>
            </a:r>
          </a:p>
        </p:txBody>
      </p:sp>
      <p:sp>
        <p:nvSpPr>
          <p:cNvPr id="6" name="TextBox 5"/>
          <p:cNvSpPr txBox="1"/>
          <p:nvPr/>
        </p:nvSpPr>
        <p:spPr>
          <a:xfrm>
            <a:off x="4368698" y="2148840"/>
            <a:ext cx="3454298" cy="548640"/>
          </a:xfrm>
          <a:prstGeom prst="rect">
            <a:avLst/>
          </a:prstGeom>
          <a:noFill/>
        </p:spPr>
        <p:txBody>
          <a:bodyPr wrap="square" anchor="t" lIns="0" rIns="0" tIns="0" bIns="0">
            <a:spAutoFit/>
          </a:bodyPr>
          <a:lstStyle/>
          <a:p>
            <a:pPr algn="l"/>
            <a:r>
              <a:rPr sz="2800" b="0">
                <a:solidFill>
                  <a:srgbClr val="F05A28"/>
                </a:solidFill>
                <a:latin typeface="Arial Black"/>
              </a:rPr>
              <a:t>344,950</a:t>
            </a:r>
          </a:p>
        </p:txBody>
      </p:sp>
      <p:sp>
        <p:nvSpPr>
          <p:cNvPr id="7" name="TextBox 6"/>
          <p:cNvSpPr txBox="1"/>
          <p:nvPr/>
        </p:nvSpPr>
        <p:spPr>
          <a:xfrm>
            <a:off x="4368698" y="2697480"/>
            <a:ext cx="3454298" cy="548640"/>
          </a:xfrm>
          <a:prstGeom prst="rect">
            <a:avLst/>
          </a:prstGeom>
          <a:noFill/>
        </p:spPr>
        <p:txBody>
          <a:bodyPr wrap="square" anchor="t" lIns="0" rIns="0" tIns="0" bIns="0">
            <a:spAutoFit/>
          </a:bodyPr>
          <a:lstStyle/>
          <a:p>
            <a:pPr algn="l">
              <a:lnSpc>
                <a:spcPct val="110000"/>
              </a:lnSpc>
            </a:pPr>
            <a:r>
              <a:rPr sz="1100" b="0">
                <a:solidFill>
                  <a:srgbClr val="AAB4C3"/>
                </a:solidFill>
                <a:latin typeface="Arial"/>
              </a:rPr>
              <a:t>DoD buildings</a:t>
            </a:r>
          </a:p>
        </p:txBody>
      </p:sp>
      <p:sp>
        <p:nvSpPr>
          <p:cNvPr id="8" name="TextBox 7"/>
          <p:cNvSpPr txBox="1"/>
          <p:nvPr/>
        </p:nvSpPr>
        <p:spPr>
          <a:xfrm>
            <a:off x="8097316" y="2148840"/>
            <a:ext cx="3454298" cy="548640"/>
          </a:xfrm>
          <a:prstGeom prst="rect">
            <a:avLst/>
          </a:prstGeom>
          <a:noFill/>
        </p:spPr>
        <p:txBody>
          <a:bodyPr wrap="square" anchor="t" lIns="0" rIns="0" tIns="0" bIns="0">
            <a:spAutoFit/>
          </a:bodyPr>
          <a:lstStyle/>
          <a:p>
            <a:pPr algn="l"/>
            <a:r>
              <a:rPr sz="2800" b="0">
                <a:solidFill>
                  <a:srgbClr val="F05A28"/>
                </a:solidFill>
                <a:latin typeface="Arial Black"/>
              </a:rPr>
              <a:t>~118,000</a:t>
            </a:r>
          </a:p>
        </p:txBody>
      </p:sp>
      <p:sp>
        <p:nvSpPr>
          <p:cNvPr id="9" name="TextBox 8"/>
          <p:cNvSpPr txBox="1"/>
          <p:nvPr/>
        </p:nvSpPr>
        <p:spPr>
          <a:xfrm>
            <a:off x="8097316" y="2697480"/>
            <a:ext cx="3454298" cy="548640"/>
          </a:xfrm>
          <a:prstGeom prst="rect">
            <a:avLst/>
          </a:prstGeom>
          <a:noFill/>
        </p:spPr>
        <p:txBody>
          <a:bodyPr wrap="square" anchor="t" lIns="0" rIns="0" tIns="0" bIns="0">
            <a:spAutoFit/>
          </a:bodyPr>
          <a:lstStyle/>
          <a:p>
            <a:pPr algn="l">
              <a:lnSpc>
                <a:spcPct val="110000"/>
              </a:lnSpc>
            </a:pPr>
            <a:r>
              <a:rPr sz="1100" b="0">
                <a:solidFill>
                  <a:srgbClr val="AAB4C3"/>
                </a:solidFill>
                <a:latin typeface="Arial"/>
              </a:rPr>
              <a:t>US buildings over 100k sq ft</a:t>
            </a:r>
          </a:p>
        </p:txBody>
      </p:sp>
      <p:sp>
        <p:nvSpPr>
          <p:cNvPr id="10" name="Rectangle 9"/>
          <p:cNvSpPr/>
          <p:nvPr/>
        </p:nvSpPr>
        <p:spPr>
          <a:xfrm>
            <a:off x="640080" y="3429000"/>
            <a:ext cx="10911535" cy="9000"/>
          </a:xfrm>
          <a:prstGeom prst="rect">
            <a:avLst/>
          </a:prstGeom>
          <a:solidFill>
            <a:srgbClr val="2A32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3611880"/>
            <a:ext cx="10607040" cy="2011680"/>
          </a:xfrm>
          <a:prstGeom prst="rect">
            <a:avLst/>
          </a:prstGeom>
          <a:noFill/>
        </p:spPr>
        <p:txBody>
          <a:bodyPr wrap="square" anchor="t" lIns="0" rIns="0" tIns="0" bIns="0">
            <a:spAutoFit/>
          </a:bodyPr>
          <a:lstStyle/>
          <a:p>
            <a:pPr algn="l">
              <a:lnSpc>
                <a:spcPct val="130000"/>
              </a:lnSpc>
            </a:pPr>
            <a:r>
              <a:rPr sz="1600" b="0">
                <a:solidFill>
                  <a:srgbClr val="E6EAF0"/>
                </a:solidFill>
                <a:latin typeface="Arial"/>
              </a:rPr>
              <a:t>Government and military first, </a:t>
            </a:r>
            <a:r>
              <a:rPr sz="1600" b="0">
                <a:solidFill>
                  <a:srgbClr val="AAB4C3"/>
                </a:solidFill>
                <a:latin typeface="Arial"/>
              </a:rPr>
              <a:t>where the budgets and the sensor networks already exist. </a:t>
            </a:r>
            <a:r>
              <a:rPr sz="1600" b="0">
                <a:solidFill>
                  <a:srgbClr val="E6EAF0"/>
                </a:solidFill>
                <a:latin typeface="Arial"/>
              </a:rPr>
              <a:t>Then building owners and data-center operators, </a:t>
            </a:r>
            <a:r>
              <a:rPr sz="1600" b="0">
                <a:solidFill>
                  <a:srgbClr val="AAB4C3"/>
                </a:solidFill>
                <a:latin typeface="Arial"/>
              </a:rPr>
              <a:t>who eat the damage and the downtime, licensed per structure on the alarm panel they already have. </a:t>
            </a:r>
            <a:r>
              <a:rPr sz="1600" b="0">
                <a:solidFill>
                  <a:srgbClr val="E6EAF0"/>
                </a:solidFill>
                <a:latin typeface="Arial"/>
              </a:rPr>
              <a:t>Then insurers, </a:t>
            </a:r>
            <a:r>
              <a:rPr sz="1600" b="0">
                <a:solidFill>
                  <a:srgbClr val="AAB4C3"/>
                </a:solidFill>
                <a:latin typeface="Arial"/>
              </a:rPr>
              <a:t>who price the loss and can push it through premium credits. </a:t>
            </a:r>
            <a:r>
              <a:rPr sz="1600" b="0">
                <a:solidFill>
                  <a:srgbClr val="E6EAF0"/>
                </a:solidFill>
                <a:latin typeface="Arial"/>
              </a:rPr>
              <a:t>Fire departments don't pay. </a:t>
            </a:r>
            <a:r>
              <a:rPr sz="1600" b="0">
                <a:solidFill>
                  <a:srgbClr val="AAB4C3"/>
                </a:solidFill>
                <a:latin typeface="Arial"/>
              </a:rPr>
              <a:t>They get the commander's display, and that is what makes everyone else's purchase worth anything on the day.</a:t>
            </a:r>
          </a:p>
        </p:txBody>
      </p:sp>
      <p:sp>
        <p:nvSpPr>
          <p:cNvPr id="12" name="Rectangle 11"/>
          <p:cNvSpPr/>
          <p:nvPr/>
        </p:nvSpPr>
        <p:spPr>
          <a:xfrm>
            <a:off x="640080" y="5440680"/>
            <a:ext cx="10911535" cy="9000"/>
          </a:xfrm>
          <a:prstGeom prst="rect">
            <a:avLst/>
          </a:prstGeom>
          <a:solidFill>
            <a:srgbClr val="2A32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5623560"/>
            <a:ext cx="10607040" cy="822960"/>
          </a:xfrm>
          <a:prstGeom prst="rect">
            <a:avLst/>
          </a:prstGeom>
          <a:noFill/>
        </p:spPr>
        <p:txBody>
          <a:bodyPr wrap="square" anchor="t" lIns="0" rIns="0" tIns="0" bIns="0">
            <a:spAutoFit/>
          </a:bodyPr>
          <a:lstStyle/>
          <a:p>
            <a:pPr algn="l">
              <a:lnSpc>
                <a:spcPct val="120000"/>
              </a:lnSpc>
            </a:pPr>
            <a:r>
              <a:rPr sz="1800" b="1">
                <a:solidFill>
                  <a:srgbClr val="E6EAF0"/>
                </a:solidFill>
                <a:latin typeface="Arial"/>
              </a:rPr>
              <a:t>A wrong confident answer sends drones to the wrong floor. We're building the one that says </a:t>
            </a:r>
            <a:r>
              <a:rPr sz="1800" b="1">
                <a:solidFill>
                  <a:srgbClr val="F05A28"/>
                </a:solidFill>
                <a:latin typeface="Arial"/>
              </a:rPr>
              <a:t>"floor 22 or 30 — cover both."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